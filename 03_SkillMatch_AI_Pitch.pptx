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hyperlink" Target="https://skillmatch-ai-rs.streamlit.app" TargetMode="Externa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4213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7479792" y="164592"/>
            <a:ext cx="4617720" cy="4617720"/>
          </a:xfrm>
          <a:prstGeom prst="roundRect">
            <a:avLst>
              <a:gd name="adj" fmla="val 13000"/>
            </a:avLst>
          </a:prstGeom>
          <a:solidFill>
            <a:srgbClr val="1D2B4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882127" y="210312"/>
            <a:ext cx="4160520" cy="4160520"/>
          </a:xfrm>
          <a:prstGeom prst="roundRect">
            <a:avLst>
              <a:gd name="adj" fmla="val 13000"/>
            </a:avLst>
          </a:prstGeom>
          <a:solidFill>
            <a:srgbClr val="2635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8613648" y="804672"/>
            <a:ext cx="2788920" cy="2788920"/>
          </a:xfrm>
          <a:prstGeom prst="roundRect">
            <a:avLst>
              <a:gd name="adj" fmla="val 13000"/>
            </a:avLst>
          </a:prstGeom>
          <a:solidFill>
            <a:srgbClr val="342F7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58368" y="566928"/>
            <a:ext cx="493776" cy="493776"/>
          </a:xfrm>
          <a:prstGeom prst="roundRect">
            <a:avLst>
              <a:gd name="adj" fmla="val 13000"/>
            </a:avLst>
          </a:prstGeom>
          <a:solidFill>
            <a:srgbClr val="655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58368" y="576072"/>
            <a:ext cx="493776" cy="47548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 i="0">
                <a:solidFill>
                  <a:srgbClr val="FFFFFF"/>
                </a:solidFill>
                <a:latin typeface="Aptos"/>
              </a:rPr>
              <a:t>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298448" y="612648"/>
            <a:ext cx="5029200" cy="219456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C7D0E5"/>
                </a:solidFill>
                <a:latin typeface="Aptos"/>
              </a:rPr>
              <a:t>IBM SKILLSBUILD  /  APPLIED AI PROJECT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481328"/>
            <a:ext cx="6492240" cy="932688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800" b="1" i="0">
                <a:solidFill>
                  <a:srgbClr val="FFFFFF"/>
                </a:solidFill>
                <a:latin typeface="Aptos"/>
              </a:rPr>
              <a:t>SkillMatch AI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13232" y="2505456"/>
            <a:ext cx="5806440" cy="77724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2200" b="0" i="0">
                <a:solidFill>
                  <a:srgbClr val="DCE3F2"/>
                </a:solidFill>
                <a:latin typeface="Aptos"/>
              </a:rPr>
              <a:t>A clearer route from your current skills to the role you want next.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13232" y="3611880"/>
            <a:ext cx="2148840" cy="347472"/>
          </a:xfrm>
          <a:prstGeom prst="roundRect">
            <a:avLst>
              <a:gd name="adj" fmla="val 13000"/>
            </a:avLst>
          </a:prstGeom>
          <a:solidFill>
            <a:srgbClr val="2C3B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32104" y="3639312"/>
            <a:ext cx="1920240" cy="265176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 i="0">
                <a:solidFill>
                  <a:srgbClr val="DDD9FF"/>
                </a:solidFill>
                <a:latin typeface="Aptos"/>
              </a:rPr>
              <a:t>SDG 4  ·  QUALITY EDUCATION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2971800" y="3611880"/>
            <a:ext cx="2423160" cy="347472"/>
          </a:xfrm>
          <a:prstGeom prst="roundRect">
            <a:avLst>
              <a:gd name="adj" fmla="val 13000"/>
            </a:avLst>
          </a:prstGeom>
          <a:solidFill>
            <a:srgbClr val="2C3B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081528" y="3639312"/>
            <a:ext cx="2194560" cy="265176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 i="0">
                <a:solidFill>
                  <a:srgbClr val="B8EAD9"/>
                </a:solidFill>
                <a:latin typeface="Aptos"/>
              </a:rPr>
              <a:t>SDG 8  ·  DECENT WORK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713232" y="4983480"/>
            <a:ext cx="5413248" cy="0"/>
          </a:xfrm>
          <a:prstGeom prst="line">
            <a:avLst/>
          </a:prstGeom>
          <a:ln w="10160">
            <a:solidFill>
              <a:srgbClr val="3C4A6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/>
          <p:cNvSpPr txBox="1"/>
          <p:nvPr/>
        </p:nvSpPr>
        <p:spPr>
          <a:xfrm>
            <a:off x="731520" y="5193792"/>
            <a:ext cx="4389120" cy="283464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FFFFFF"/>
                </a:solidFill>
                <a:latin typeface="Aptos"/>
              </a:rPr>
              <a:t>Shiven Pratap Singh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31520" y="5504688"/>
            <a:ext cx="5029200" cy="256032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C6D0E5"/>
                </a:solidFill>
                <a:latin typeface="Aptos"/>
              </a:rPr>
              <a:t>Lovely Professional University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31520" y="5907024"/>
            <a:ext cx="5486400" cy="27432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AEBAD4"/>
                </a:solidFill>
                <a:latin typeface="Aptos"/>
              </a:rPr>
              <a:t>A deployed, lightweight prototype • Python / Streamlit / scikit-learn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882127" y="1965960"/>
            <a:ext cx="3474720" cy="2331720"/>
          </a:xfrm>
          <a:prstGeom prst="roundRect">
            <a:avLst>
              <a:gd name="adj" fmla="val 13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183879" y="2212848"/>
            <a:ext cx="2788920" cy="201168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 i="0">
                <a:solidFill>
                  <a:srgbClr val="6558D9"/>
                </a:solidFill>
                <a:latin typeface="Aptos"/>
              </a:rPr>
              <a:t>ROLE SNAPSHOT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183879" y="2496312"/>
            <a:ext cx="2834640" cy="384048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 i="0">
                <a:solidFill>
                  <a:srgbClr val="14213D"/>
                </a:solidFill>
                <a:latin typeface="Aptos"/>
              </a:rPr>
              <a:t>Data Analyst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183879" y="3099816"/>
            <a:ext cx="658368" cy="301752"/>
          </a:xfrm>
          <a:prstGeom prst="roundRect">
            <a:avLst>
              <a:gd name="adj" fmla="val 13000"/>
            </a:avLst>
          </a:prstGeom>
          <a:solidFill>
            <a:srgbClr val="F0E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183879" y="3104388"/>
            <a:ext cx="658368" cy="26517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6558D9"/>
                </a:solidFill>
                <a:latin typeface="Aptos"/>
              </a:rPr>
              <a:t>Python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8915400" y="3099816"/>
            <a:ext cx="457200" cy="301752"/>
          </a:xfrm>
          <a:prstGeom prst="roundRect">
            <a:avLst>
              <a:gd name="adj" fmla="val 13000"/>
            </a:avLst>
          </a:prstGeom>
          <a:solidFill>
            <a:srgbClr val="E9F7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915400" y="3104388"/>
            <a:ext cx="457200" cy="26517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17866D"/>
                </a:solidFill>
                <a:latin typeface="Aptos"/>
              </a:rPr>
              <a:t>SQL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9445752" y="3099816"/>
            <a:ext cx="566928" cy="301752"/>
          </a:xfrm>
          <a:prstGeom prst="roundRect">
            <a:avLst>
              <a:gd name="adj" fmla="val 13000"/>
            </a:avLst>
          </a:prstGeom>
          <a:solidFill>
            <a:srgbClr val="EEF5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9445752" y="3104388"/>
            <a:ext cx="566928" cy="26517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4578A8"/>
                </a:solidFill>
                <a:latin typeface="Aptos"/>
              </a:rPr>
              <a:t>Excel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10085832" y="3099816"/>
            <a:ext cx="713232" cy="301752"/>
          </a:xfrm>
          <a:prstGeom prst="roundRect">
            <a:avLst>
              <a:gd name="adj" fmla="val 13000"/>
            </a:avLst>
          </a:prstGeom>
          <a:solidFill>
            <a:srgbClr val="FFF0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10085832" y="3104388"/>
            <a:ext cx="713232" cy="26517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C8566B"/>
                </a:solidFill>
                <a:latin typeface="Aptos"/>
              </a:rPr>
              <a:t>Power BI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8183879" y="3602736"/>
            <a:ext cx="2834640" cy="402336"/>
          </a:xfrm>
          <a:prstGeom prst="roundRect">
            <a:avLst>
              <a:gd name="adj" fmla="val 13000"/>
            </a:avLst>
          </a:prstGeom>
          <a:solidFill>
            <a:srgbClr val="F5F7FC"/>
          </a:solidFill>
          <a:ln w="12700">
            <a:solidFill>
              <a:srgbClr val="DFE5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321040" y="3648456"/>
            <a:ext cx="2578608" cy="283464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66738A"/>
                </a:solidFill>
                <a:latin typeface="Aptos"/>
              </a:rPr>
              <a:t>Matched skills  •  Gaps  •  Roadmap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882127" y="4572000"/>
            <a:ext cx="3474720" cy="512064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DCE3F2"/>
                </a:solidFill>
                <a:latin typeface="Aptos"/>
              </a:rPr>
              <a:t>From profile text to a more actionable learning plan.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882127" y="5532120"/>
            <a:ext cx="3474720" cy="36576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BFC8DD"/>
                </a:solidFill>
                <a:latin typeface="Aptos"/>
              </a:rPr>
              <a:t>Live demo: skillmatch-ai-rs.streamlit.app</a:t>
            </a:r>
          </a:p>
        </p:txBody>
      </p:sp>
      <p:cxnSp>
        <p:nvCxnSpPr>
          <p:cNvPr id="33" name="Connector 32"/>
          <p:cNvCxnSpPr/>
          <p:nvPr/>
        </p:nvCxnSpPr>
        <p:spPr>
          <a:xfrm>
            <a:off x="502920" y="6492240"/>
            <a:ext cx="11183112" cy="0"/>
          </a:xfrm>
          <a:prstGeom prst="line">
            <a:avLst/>
          </a:prstGeom>
          <a:ln w="8890">
            <a:solidFill>
              <a:srgbClr val="34415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4" name="TextBox 33"/>
          <p:cNvSpPr txBox="1"/>
          <p:nvPr/>
        </p:nvSpPr>
        <p:spPr>
          <a:xfrm>
            <a:off x="530352" y="6537960"/>
            <a:ext cx="4937760" cy="173736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 i="0">
                <a:solidFill>
                  <a:srgbClr val="52607A"/>
                </a:solidFill>
                <a:latin typeface="Aptos"/>
              </a:rPr>
              <a:t>SKILLMATCH AI  /  PROJECT PITCH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0881360" y="6528816"/>
            <a:ext cx="777240" cy="182880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 i="0">
                <a:solidFill>
                  <a:srgbClr val="52607A"/>
                </a:solidFill>
                <a:latin typeface="Aptos"/>
              </a:rPr>
              <a:t>01 / 14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7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347472"/>
            <a:ext cx="10789920" cy="201168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6558D9"/>
                </a:solidFill>
                <a:latin typeface="Aptos"/>
              </a:rPr>
              <a:t>01  /  THE OPPORTUNITY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640080"/>
            <a:ext cx="10972800" cy="493776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500" b="1" i="0">
                <a:solidFill>
                  <a:srgbClr val="14213D"/>
                </a:solidFill>
                <a:latin typeface="Aptos"/>
              </a:rPr>
              <a:t>The hard part is deciding what to learn next.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12648" y="1170432"/>
            <a:ext cx="10789920" cy="384048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66738A"/>
                </a:solidFill>
                <a:latin typeface="Aptos"/>
              </a:rPr>
              <a:t>A problem hypothesis to test with students - not a claim from a completed user study.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502920" y="6492240"/>
            <a:ext cx="11183112" cy="0"/>
          </a:xfrm>
          <a:prstGeom prst="line">
            <a:avLst/>
          </a:prstGeom>
          <a:ln w="8890">
            <a:solidFill>
              <a:srgbClr val="DFE5E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530352" y="6537960"/>
            <a:ext cx="4937760" cy="173736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 i="0">
                <a:solidFill>
                  <a:srgbClr val="66738A"/>
                </a:solidFill>
                <a:latin typeface="Aptos"/>
              </a:rPr>
              <a:t>SKILLMATCH AI  /  PROJECT PITCH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881360" y="6528816"/>
            <a:ext cx="777240" cy="182880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 i="0">
                <a:solidFill>
                  <a:srgbClr val="66738A"/>
                </a:solidFill>
                <a:latin typeface="Aptos"/>
              </a:rPr>
              <a:t>02 / 14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58368" y="1965960"/>
            <a:ext cx="3447288" cy="2286000"/>
          </a:xfrm>
          <a:prstGeom prst="roundRect">
            <a:avLst>
              <a:gd name="adj" fmla="val 13000"/>
            </a:avLst>
          </a:prstGeom>
          <a:solidFill>
            <a:srgbClr val="F0EFFF"/>
          </a:solidFill>
          <a:ln w="12700">
            <a:solidFill>
              <a:srgbClr val="DFE5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58368" y="1965960"/>
            <a:ext cx="64008" cy="2286000"/>
          </a:xfrm>
          <a:prstGeom prst="rect">
            <a:avLst/>
          </a:prstGeom>
          <a:solidFill>
            <a:srgbClr val="655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68680" y="2103120"/>
            <a:ext cx="3054096" cy="173736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 i="0">
                <a:solidFill>
                  <a:srgbClr val="6558D9"/>
                </a:solidFill>
                <a:latin typeface="Aptos"/>
              </a:rPr>
              <a:t>CHALLENGE 01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" y="2350008"/>
            <a:ext cx="3054096" cy="310896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 i="0">
                <a:solidFill>
                  <a:srgbClr val="14213D"/>
                </a:solidFill>
                <a:latin typeface="Aptos"/>
              </a:rPr>
              <a:t>Requirements are scattered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68680" y="2743200"/>
            <a:ext cx="3044952" cy="141732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66738A"/>
                </a:solidFill>
                <a:latin typeface="Aptos"/>
              </a:rPr>
              <a:t>Job and internship descriptions use different wording and detail levels. A student has to interpret the list before acting.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480559" y="1965960"/>
            <a:ext cx="3447288" cy="2286000"/>
          </a:xfrm>
          <a:prstGeom prst="roundRect">
            <a:avLst>
              <a:gd name="adj" fmla="val 13000"/>
            </a:avLst>
          </a:prstGeom>
          <a:solidFill>
            <a:srgbClr val="E9F7F1"/>
          </a:solidFill>
          <a:ln w="12700">
            <a:solidFill>
              <a:srgbClr val="DFE5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480559" y="1965960"/>
            <a:ext cx="64008" cy="2286000"/>
          </a:xfrm>
          <a:prstGeom prst="rect">
            <a:avLst/>
          </a:prstGeom>
          <a:solidFill>
            <a:srgbClr val="17866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690872" y="2103120"/>
            <a:ext cx="3054096" cy="173736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 i="0">
                <a:solidFill>
                  <a:srgbClr val="17866D"/>
                </a:solidFill>
                <a:latin typeface="Aptos"/>
              </a:rPr>
              <a:t>CHALLENGE 02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690872" y="2350008"/>
            <a:ext cx="3054096" cy="310896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 i="0">
                <a:solidFill>
                  <a:srgbClr val="14213D"/>
                </a:solidFill>
                <a:latin typeface="Aptos"/>
              </a:rPr>
              <a:t>A list is not a plan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690872" y="2743200"/>
            <a:ext cx="3044952" cy="141732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66738A"/>
                </a:solidFill>
                <a:latin typeface="Aptos"/>
              </a:rPr>
              <a:t>Even when a learner knows which terms appear in a role description, the next practice task may not be obvious.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302752" y="1965960"/>
            <a:ext cx="3447288" cy="2286000"/>
          </a:xfrm>
          <a:prstGeom prst="roundRect">
            <a:avLst>
              <a:gd name="adj" fmla="val 13000"/>
            </a:avLst>
          </a:prstGeom>
          <a:solidFill>
            <a:srgbClr val="EEF5FB"/>
          </a:solidFill>
          <a:ln w="12700">
            <a:solidFill>
              <a:srgbClr val="DFE5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8302752" y="1965960"/>
            <a:ext cx="64008" cy="2286000"/>
          </a:xfrm>
          <a:prstGeom prst="rect">
            <a:avLst/>
          </a:prstGeom>
          <a:solidFill>
            <a:srgbClr val="4578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513064" y="2103120"/>
            <a:ext cx="3054096" cy="173736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 i="0">
                <a:solidFill>
                  <a:srgbClr val="4578A8"/>
                </a:solidFill>
                <a:latin typeface="Aptos"/>
              </a:rPr>
              <a:t>CHALLENGE 03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513064" y="2350008"/>
            <a:ext cx="3054096" cy="310896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 i="0">
                <a:solidFill>
                  <a:srgbClr val="14213D"/>
                </a:solidFill>
                <a:latin typeface="Aptos"/>
              </a:rPr>
              <a:t>Progress can feel vague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513064" y="2743200"/>
            <a:ext cx="3044952" cy="141732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66738A"/>
                </a:solidFill>
                <a:latin typeface="Aptos"/>
              </a:rPr>
              <a:t>Without a structured comparison, learners may find it difficult to explain what they already cover and what they still need to investigate.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58368" y="4681728"/>
            <a:ext cx="10899648" cy="1024128"/>
          </a:xfrm>
          <a:prstGeom prst="roundRect">
            <a:avLst>
              <a:gd name="adj" fmla="val 13000"/>
            </a:avLst>
          </a:prstGeom>
          <a:solidFill>
            <a:srgbClr val="1421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14400" y="4873752"/>
            <a:ext cx="1874519" cy="210312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C9C4FF"/>
                </a:solidFill>
                <a:latin typeface="Aptos"/>
              </a:rPr>
              <a:t>WORKING HYPOTHESIS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14400" y="5138928"/>
            <a:ext cx="10012680" cy="420624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FFFFFF"/>
                </a:solidFill>
                <a:latin typeface="Aptos"/>
              </a:rPr>
              <a:t>A transparent, role-focused skill review can help learners turn requirements into concrete practice priorities.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347472"/>
            <a:ext cx="10789920" cy="201168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6558D9"/>
                </a:solidFill>
                <a:latin typeface="Aptos"/>
              </a:rPr>
              <a:t>02  /  THE IDEA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640080"/>
            <a:ext cx="10972800" cy="493776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500" b="1" i="0">
                <a:solidFill>
                  <a:srgbClr val="14213D"/>
                </a:solidFill>
                <a:latin typeface="Aptos"/>
              </a:rPr>
              <a:t>A skill-gap review, not a hiring score.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12648" y="1170432"/>
            <a:ext cx="10789920" cy="384048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66738A"/>
                </a:solidFill>
                <a:latin typeface="Aptos"/>
              </a:rPr>
              <a:t>SkillMatch AI compares learner-entered text with a curated role map and suggests next steps.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502920" y="6492240"/>
            <a:ext cx="11183112" cy="0"/>
          </a:xfrm>
          <a:prstGeom prst="line">
            <a:avLst/>
          </a:prstGeom>
          <a:ln w="8890">
            <a:solidFill>
              <a:srgbClr val="DFE5E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530352" y="6537960"/>
            <a:ext cx="4937760" cy="173736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 i="0">
                <a:solidFill>
                  <a:srgbClr val="66738A"/>
                </a:solidFill>
                <a:latin typeface="Aptos"/>
              </a:rPr>
              <a:t>SKILLMATCH AI  /  PROJECT PITCH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881360" y="6528816"/>
            <a:ext cx="777240" cy="182880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 i="0">
                <a:solidFill>
                  <a:srgbClr val="66738A"/>
                </a:solidFill>
                <a:latin typeface="Aptos"/>
              </a:rPr>
              <a:t>03 / 14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58368" y="1828800"/>
            <a:ext cx="3822191" cy="3566160"/>
          </a:xfrm>
          <a:prstGeom prst="roundRect">
            <a:avLst>
              <a:gd name="adj" fmla="val 13000"/>
            </a:avLst>
          </a:prstGeom>
          <a:solidFill>
            <a:srgbClr val="1421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60120" y="2148840"/>
            <a:ext cx="3154680" cy="210312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C9C4FF"/>
                </a:solidFill>
                <a:latin typeface="Aptos"/>
              </a:rPr>
              <a:t>THE PROMISE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60120" y="2523744"/>
            <a:ext cx="3200400" cy="109728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2200" b="1" i="0">
                <a:solidFill>
                  <a:srgbClr val="FFFFFF"/>
                </a:solidFill>
                <a:latin typeface="Aptos"/>
              </a:rPr>
              <a:t>See what your target role asks for - then choose what to practise next.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960120" y="4069080"/>
            <a:ext cx="3108960" cy="0"/>
          </a:xfrm>
          <a:prstGeom prst="line">
            <a:avLst/>
          </a:prstGeom>
          <a:ln w="10160">
            <a:solidFill>
              <a:srgbClr val="39486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960120" y="4315968"/>
            <a:ext cx="3154680" cy="749808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D1D9EA"/>
                </a:solidFill>
                <a:latin typeface="Aptos"/>
              </a:rPr>
              <a:t>Designed for reflection and planning. It does not rank candidates or estimate chances of employment.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864608" y="1828800"/>
            <a:ext cx="3063240" cy="1481328"/>
          </a:xfrm>
          <a:prstGeom prst="roundRect">
            <a:avLst>
              <a:gd name="adj" fmla="val 13000"/>
            </a:avLst>
          </a:prstGeom>
          <a:solidFill>
            <a:srgbClr val="F0EFFF"/>
          </a:solidFill>
          <a:ln w="12700">
            <a:solidFill>
              <a:srgbClr val="DFE5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864608" y="1828800"/>
            <a:ext cx="64008" cy="1481328"/>
          </a:xfrm>
          <a:prstGeom prst="rect">
            <a:avLst/>
          </a:prstGeom>
          <a:solidFill>
            <a:srgbClr val="655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074920" y="2029968"/>
            <a:ext cx="2670048" cy="310896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14213D"/>
                </a:solidFill>
                <a:latin typeface="Aptos"/>
              </a:rPr>
              <a:t>Primary users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074920" y="2423160"/>
            <a:ext cx="2660904" cy="795527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66738A"/>
                </a:solidFill>
                <a:latin typeface="Aptos"/>
              </a:rPr>
              <a:t>University students and early-career applicants preparing for internships and entry-level roles.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211312" y="1828800"/>
            <a:ext cx="3063240" cy="1481328"/>
          </a:xfrm>
          <a:prstGeom prst="roundRect">
            <a:avLst>
              <a:gd name="adj" fmla="val 13000"/>
            </a:avLst>
          </a:prstGeom>
          <a:solidFill>
            <a:srgbClr val="E9F7F1"/>
          </a:solidFill>
          <a:ln w="12700">
            <a:solidFill>
              <a:srgbClr val="DFE5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8211312" y="1828800"/>
            <a:ext cx="64008" cy="1481328"/>
          </a:xfrm>
          <a:prstGeom prst="rect">
            <a:avLst/>
          </a:prstGeom>
          <a:solidFill>
            <a:srgbClr val="17866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421624" y="2029968"/>
            <a:ext cx="2670048" cy="310896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14213D"/>
                </a:solidFill>
                <a:latin typeface="Aptos"/>
              </a:rPr>
              <a:t>Potential reviewers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421624" y="2423160"/>
            <a:ext cx="2660904" cy="795527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66738A"/>
                </a:solidFill>
                <a:latin typeface="Aptos"/>
              </a:rPr>
              <a:t>Career clubs, mentors and placement teams who could review the role map and roadmap quality.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864608" y="3584448"/>
            <a:ext cx="6409944" cy="1810512"/>
          </a:xfrm>
          <a:prstGeom prst="roundRect">
            <a:avLst>
              <a:gd name="adj" fmla="val 13000"/>
            </a:avLst>
          </a:prstGeom>
          <a:solidFill>
            <a:srgbClr val="F5F7FC"/>
          </a:solidFill>
          <a:ln w="12700">
            <a:solidFill>
              <a:srgbClr val="DFE5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138928" y="3822191"/>
            <a:ext cx="5806440" cy="219456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6558D9"/>
                </a:solidFill>
                <a:latin typeface="Aptos"/>
              </a:rPr>
              <a:t>THE CORE LOOP</a:t>
            </a:r>
          </a:p>
        </p:txBody>
      </p:sp>
      <p:sp>
        <p:nvSpPr>
          <p:cNvPr id="23" name="Oval 22"/>
          <p:cNvSpPr/>
          <p:nvPr/>
        </p:nvSpPr>
        <p:spPr>
          <a:xfrm>
            <a:off x="5166360" y="4343400"/>
            <a:ext cx="310896" cy="310896"/>
          </a:xfrm>
          <a:prstGeom prst="ellipse">
            <a:avLst/>
          </a:prstGeom>
          <a:solidFill>
            <a:srgbClr val="655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166360" y="4347972"/>
            <a:ext cx="310896" cy="2926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FFFFFF"/>
                </a:solidFill>
                <a:latin typeface="Aptos"/>
              </a:rPr>
              <a:t>1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586984" y="4325112"/>
            <a:ext cx="1170432" cy="22860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14213D"/>
                </a:solidFill>
                <a:latin typeface="Aptos"/>
              </a:rPr>
              <a:t>Map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586984" y="4617720"/>
            <a:ext cx="1325880" cy="219456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6738A"/>
                </a:solidFill>
                <a:latin typeface="Aptos"/>
              </a:rPr>
              <a:t>profile</a:t>
            </a:r>
          </a:p>
        </p:txBody>
      </p:sp>
      <p:cxnSp>
        <p:nvCxnSpPr>
          <p:cNvPr id="27" name="Connector 26"/>
          <p:cNvCxnSpPr/>
          <p:nvPr/>
        </p:nvCxnSpPr>
        <p:spPr>
          <a:xfrm>
            <a:off x="6629400" y="4498848"/>
            <a:ext cx="384048" cy="0"/>
          </a:xfrm>
          <a:prstGeom prst="line">
            <a:avLst/>
          </a:prstGeom>
          <a:ln w="17780">
            <a:solidFill>
              <a:srgbClr val="DFE5E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Oval 27"/>
          <p:cNvSpPr/>
          <p:nvPr/>
        </p:nvSpPr>
        <p:spPr>
          <a:xfrm>
            <a:off x="7159752" y="4343400"/>
            <a:ext cx="310896" cy="310896"/>
          </a:xfrm>
          <a:prstGeom prst="ellipse">
            <a:avLst/>
          </a:prstGeom>
          <a:solidFill>
            <a:srgbClr val="17866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7159752" y="4347972"/>
            <a:ext cx="310896" cy="2926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FFFFFF"/>
                </a:solidFill>
                <a:latin typeface="Aptos"/>
              </a:rPr>
              <a:t>2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580376" y="4325112"/>
            <a:ext cx="1170432" cy="22860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14213D"/>
                </a:solidFill>
                <a:latin typeface="Aptos"/>
              </a:rPr>
              <a:t>Compare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580376" y="4617720"/>
            <a:ext cx="1325880" cy="219456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6738A"/>
                </a:solidFill>
                <a:latin typeface="Aptos"/>
              </a:rPr>
              <a:t>role</a:t>
            </a:r>
          </a:p>
        </p:txBody>
      </p:sp>
      <p:cxnSp>
        <p:nvCxnSpPr>
          <p:cNvPr id="32" name="Connector 31"/>
          <p:cNvCxnSpPr/>
          <p:nvPr/>
        </p:nvCxnSpPr>
        <p:spPr>
          <a:xfrm>
            <a:off x="8622792" y="4498848"/>
            <a:ext cx="384048" cy="0"/>
          </a:xfrm>
          <a:prstGeom prst="line">
            <a:avLst/>
          </a:prstGeom>
          <a:ln w="17780">
            <a:solidFill>
              <a:srgbClr val="DFE5E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3" name="Oval 32"/>
          <p:cNvSpPr/>
          <p:nvPr/>
        </p:nvSpPr>
        <p:spPr>
          <a:xfrm>
            <a:off x="9153144" y="4343400"/>
            <a:ext cx="310896" cy="310896"/>
          </a:xfrm>
          <a:prstGeom prst="ellipse">
            <a:avLst/>
          </a:prstGeom>
          <a:solidFill>
            <a:srgbClr val="4578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9153144" y="4347972"/>
            <a:ext cx="310896" cy="2926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FFFFFF"/>
                </a:solidFill>
                <a:latin typeface="Aptos"/>
              </a:rPr>
              <a:t>3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573768" y="4325112"/>
            <a:ext cx="1170432" cy="22860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14213D"/>
                </a:solidFill>
                <a:latin typeface="Aptos"/>
              </a:rPr>
              <a:t>Plan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573768" y="4617720"/>
            <a:ext cx="1325880" cy="219456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6738A"/>
                </a:solidFill>
                <a:latin typeface="Aptos"/>
              </a:rPr>
              <a:t>next step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7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347472"/>
            <a:ext cx="10789920" cy="201168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6558D9"/>
                </a:solidFill>
                <a:latin typeface="Aptos"/>
              </a:rPr>
              <a:t>03  /  USER JOURNEY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640080"/>
            <a:ext cx="10972800" cy="493776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500" b="1" i="0">
                <a:solidFill>
                  <a:srgbClr val="14213D"/>
                </a:solidFill>
                <a:latin typeface="Aptos"/>
              </a:rPr>
              <a:t>Five steps from profile to learning plan.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12648" y="1170432"/>
            <a:ext cx="10789920" cy="384048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66738A"/>
                </a:solidFill>
                <a:latin typeface="Aptos"/>
              </a:rPr>
              <a:t>The app is intentionally simple: one text profile, one target role, a clear review, and two export options.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502920" y="6492240"/>
            <a:ext cx="11183112" cy="0"/>
          </a:xfrm>
          <a:prstGeom prst="line">
            <a:avLst/>
          </a:prstGeom>
          <a:ln w="8890">
            <a:solidFill>
              <a:srgbClr val="DFE5E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530352" y="6537960"/>
            <a:ext cx="4937760" cy="173736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 i="0">
                <a:solidFill>
                  <a:srgbClr val="66738A"/>
                </a:solidFill>
                <a:latin typeface="Aptos"/>
              </a:rPr>
              <a:t>SKILLMATCH AI  /  PROJECT PITCH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881360" y="6528816"/>
            <a:ext cx="777240" cy="182880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 i="0">
                <a:solidFill>
                  <a:srgbClr val="66738A"/>
                </a:solidFill>
                <a:latin typeface="Aptos"/>
              </a:rPr>
              <a:t>04 / 14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86384" y="1783080"/>
            <a:ext cx="10533888" cy="658368"/>
          </a:xfrm>
          <a:prstGeom prst="roundRect">
            <a:avLst>
              <a:gd name="adj" fmla="val 13000"/>
            </a:avLst>
          </a:prstGeom>
          <a:solidFill>
            <a:srgbClr val="FFFFFF"/>
          </a:solidFill>
          <a:ln w="12700">
            <a:solidFill>
              <a:srgbClr val="DFE5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005840" y="1947672"/>
            <a:ext cx="320040" cy="320040"/>
          </a:xfrm>
          <a:prstGeom prst="ellipse">
            <a:avLst/>
          </a:prstGeom>
          <a:solidFill>
            <a:srgbClr val="655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05840" y="1952243"/>
            <a:ext cx="320040" cy="30175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FFFFFF"/>
                </a:solidFill>
                <a:latin typeface="Aptos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36192" y="1901952"/>
            <a:ext cx="2176272" cy="292608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14213D"/>
                </a:solidFill>
                <a:latin typeface="Aptos"/>
              </a:rPr>
              <a:t>Enter your profile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794760" y="1883664"/>
            <a:ext cx="7086600" cy="411480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66738A"/>
                </a:solidFill>
                <a:latin typeface="Aptos"/>
              </a:rPr>
              <a:t>Add skills, tools, coursework, projects and experience in natural language.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86384" y="2615184"/>
            <a:ext cx="10533888" cy="658368"/>
          </a:xfrm>
          <a:prstGeom prst="roundRect">
            <a:avLst>
              <a:gd name="adj" fmla="val 13000"/>
            </a:avLst>
          </a:prstGeom>
          <a:solidFill>
            <a:srgbClr val="FFFFFF"/>
          </a:solidFill>
          <a:ln w="12700">
            <a:solidFill>
              <a:srgbClr val="DFE5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1005840" y="2779776"/>
            <a:ext cx="320040" cy="320040"/>
          </a:xfrm>
          <a:prstGeom prst="ellipse">
            <a:avLst/>
          </a:prstGeom>
          <a:solidFill>
            <a:srgbClr val="17866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05840" y="2784348"/>
            <a:ext cx="320040" cy="30175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FFFFFF"/>
                </a:solidFill>
                <a:latin typeface="Aptos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536192" y="2734056"/>
            <a:ext cx="2176272" cy="292608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14213D"/>
                </a:solidFill>
                <a:latin typeface="Aptos"/>
              </a:rPr>
              <a:t>Choose a target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794760" y="2715768"/>
            <a:ext cx="7086600" cy="411480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66738A"/>
                </a:solidFill>
                <a:latin typeface="Aptos"/>
              </a:rPr>
              <a:t>Select one of the five built-in technology-role templates.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86384" y="3447288"/>
            <a:ext cx="10533888" cy="658368"/>
          </a:xfrm>
          <a:prstGeom prst="roundRect">
            <a:avLst>
              <a:gd name="adj" fmla="val 13000"/>
            </a:avLst>
          </a:prstGeom>
          <a:solidFill>
            <a:srgbClr val="FFFFFF"/>
          </a:solidFill>
          <a:ln w="12700">
            <a:solidFill>
              <a:srgbClr val="DFE5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005840" y="3611880"/>
            <a:ext cx="320040" cy="320040"/>
          </a:xfrm>
          <a:prstGeom prst="ellipse">
            <a:avLst/>
          </a:prstGeom>
          <a:solidFill>
            <a:srgbClr val="4578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05840" y="3616452"/>
            <a:ext cx="320040" cy="30175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FFFFFF"/>
                </a:solidFill>
                <a:latin typeface="Aptos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536192" y="3566160"/>
            <a:ext cx="2176272" cy="292608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14213D"/>
                </a:solidFill>
                <a:latin typeface="Aptos"/>
              </a:rPr>
              <a:t>Add role context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794760" y="3547872"/>
            <a:ext cx="7086600" cy="411480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66738A"/>
                </a:solidFill>
                <a:latin typeface="Aptos"/>
              </a:rPr>
              <a:t>Optionally paste a specific job description for the text-similarity comparison.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786384" y="4279392"/>
            <a:ext cx="10533888" cy="658368"/>
          </a:xfrm>
          <a:prstGeom prst="roundRect">
            <a:avLst>
              <a:gd name="adj" fmla="val 13000"/>
            </a:avLst>
          </a:prstGeom>
          <a:solidFill>
            <a:srgbClr val="FFFFFF"/>
          </a:solidFill>
          <a:ln w="12700">
            <a:solidFill>
              <a:srgbClr val="DFE5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1005840" y="4443983"/>
            <a:ext cx="320040" cy="320040"/>
          </a:xfrm>
          <a:prstGeom prst="ellipse">
            <a:avLst/>
          </a:prstGeom>
          <a:solidFill>
            <a:srgbClr val="C856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05840" y="4448555"/>
            <a:ext cx="320040" cy="30175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FFFFFF"/>
                </a:solidFill>
                <a:latin typeface="Aptos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536192" y="4398264"/>
            <a:ext cx="2176272" cy="292608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14213D"/>
                </a:solidFill>
                <a:latin typeface="Aptos"/>
              </a:rPr>
              <a:t>Review the result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794760" y="4379976"/>
            <a:ext cx="7086600" cy="411480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66738A"/>
                </a:solidFill>
                <a:latin typeface="Aptos"/>
              </a:rPr>
              <a:t>See recognised skills, matched/missing requirements, coverage, similarity and a roadmap.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786384" y="5111496"/>
            <a:ext cx="10533888" cy="658368"/>
          </a:xfrm>
          <a:prstGeom prst="roundRect">
            <a:avLst>
              <a:gd name="adj" fmla="val 13000"/>
            </a:avLst>
          </a:prstGeom>
          <a:solidFill>
            <a:srgbClr val="FFFFFF"/>
          </a:solidFill>
          <a:ln w="12700">
            <a:solidFill>
              <a:srgbClr val="DFE5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1005840" y="5276088"/>
            <a:ext cx="320040" cy="320040"/>
          </a:xfrm>
          <a:prstGeom prst="ellipse">
            <a:avLst/>
          </a:prstGeom>
          <a:solidFill>
            <a:srgbClr val="1421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1005840" y="5280659"/>
            <a:ext cx="320040" cy="30175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FFFFFF"/>
                </a:solidFill>
                <a:latin typeface="Aptos"/>
              </a:rPr>
              <a:t>5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536192" y="5230368"/>
            <a:ext cx="2176272" cy="292608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14213D"/>
                </a:solidFill>
                <a:latin typeface="Aptos"/>
              </a:rPr>
              <a:t>Take it with you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794760" y="5212080"/>
            <a:ext cx="7086600" cy="411480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66738A"/>
                </a:solidFill>
                <a:latin typeface="Aptos"/>
              </a:rPr>
              <a:t>Download a CSV analysis summary and a TXT learning roadmap.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786384" y="6053328"/>
            <a:ext cx="10533888" cy="283464"/>
          </a:xfrm>
          <a:prstGeom prst="roundRect">
            <a:avLst>
              <a:gd name="adj" fmla="val 13000"/>
            </a:avLst>
          </a:prstGeom>
          <a:solidFill>
            <a:srgbClr val="F0E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914400" y="6062472"/>
            <a:ext cx="10222992" cy="246888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19" b="1" i="0">
                <a:solidFill>
                  <a:srgbClr val="6558D9"/>
                </a:solidFill>
                <a:latin typeface="Aptos"/>
              </a:rPr>
              <a:t>SUPPORTED ROLE TEMPLATES   •   DATA ANALYST   •   MACHINE LEARNING INTERN   •   DATA SCIENTIST   •   FRONTEND DEVELOPER   •   BACKEND DEVELOPER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347472"/>
            <a:ext cx="10789920" cy="201168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6558D9"/>
                </a:solidFill>
                <a:latin typeface="Aptos"/>
              </a:rPr>
              <a:t>04  /  THE PRODUCT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640080"/>
            <a:ext cx="10972800" cy="493776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500" b="1" i="0">
                <a:solidFill>
                  <a:srgbClr val="14213D"/>
                </a:solidFill>
                <a:latin typeface="Aptos"/>
              </a:rPr>
              <a:t>A clean workspace built around the next action.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12648" y="1170432"/>
            <a:ext cx="10789920" cy="384048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66738A"/>
                </a:solidFill>
                <a:latin typeface="Aptos"/>
              </a:rPr>
              <a:t>Interface map of the current app sections; this is a layout illustration, not a captured live result.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502920" y="6492240"/>
            <a:ext cx="11183112" cy="0"/>
          </a:xfrm>
          <a:prstGeom prst="line">
            <a:avLst/>
          </a:prstGeom>
          <a:ln w="8890">
            <a:solidFill>
              <a:srgbClr val="DFE5E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530352" y="6537960"/>
            <a:ext cx="4937760" cy="173736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 i="0">
                <a:solidFill>
                  <a:srgbClr val="66738A"/>
                </a:solidFill>
                <a:latin typeface="Aptos"/>
              </a:rPr>
              <a:t>SKILLMATCH AI  /  PROJECT PITCH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881360" y="6528816"/>
            <a:ext cx="777240" cy="182880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 i="0">
                <a:solidFill>
                  <a:srgbClr val="66738A"/>
                </a:solidFill>
                <a:latin typeface="Aptos"/>
              </a:rPr>
              <a:t>05 / 14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58368" y="1783080"/>
            <a:ext cx="10899648" cy="4343400"/>
          </a:xfrm>
          <a:prstGeom prst="roundRect">
            <a:avLst>
              <a:gd name="adj" fmla="val 13000"/>
            </a:avLst>
          </a:prstGeom>
          <a:solidFill>
            <a:srgbClr val="F5F7FC"/>
          </a:solidFill>
          <a:ln w="12700">
            <a:solidFill>
              <a:srgbClr val="DFE5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658368" y="1783080"/>
            <a:ext cx="10899648" cy="438912"/>
          </a:xfrm>
          <a:prstGeom prst="roundRect">
            <a:avLst>
              <a:gd name="adj" fmla="val 13000"/>
            </a:avLst>
          </a:prstGeom>
          <a:solidFill>
            <a:srgbClr val="1421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58368" y="1993392"/>
            <a:ext cx="10899648" cy="219456"/>
          </a:xfrm>
          <a:prstGeom prst="rect">
            <a:avLst/>
          </a:prstGeom>
          <a:solidFill>
            <a:srgbClr val="1421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859536" y="1929384"/>
            <a:ext cx="82296" cy="82296"/>
          </a:xfrm>
          <a:prstGeom prst="ellipse">
            <a:avLst/>
          </a:prstGeom>
          <a:solidFill>
            <a:srgbClr val="C856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1060704" y="1929384"/>
            <a:ext cx="82296" cy="82296"/>
          </a:xfrm>
          <a:prstGeom prst="ellipse">
            <a:avLst/>
          </a:prstGeom>
          <a:solidFill>
            <a:srgbClr val="E9B7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1261872" y="1929384"/>
            <a:ext cx="82296" cy="82296"/>
          </a:xfrm>
          <a:prstGeom prst="ellipse">
            <a:avLst/>
          </a:prstGeom>
          <a:solidFill>
            <a:srgbClr val="17866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645920" y="1865376"/>
            <a:ext cx="7315200" cy="228600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FFFFFF"/>
                </a:solidFill>
                <a:latin typeface="Aptos"/>
              </a:rPr>
              <a:t>SkillMatch AI   /   Career insights workspace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96112" y="2414016"/>
            <a:ext cx="10415016" cy="786384"/>
          </a:xfrm>
          <a:prstGeom prst="roundRect">
            <a:avLst>
              <a:gd name="adj" fmla="val 13000"/>
            </a:avLst>
          </a:prstGeom>
          <a:solidFill>
            <a:srgbClr val="FFFFFF"/>
          </a:solidFill>
          <a:ln w="12700">
            <a:solidFill>
              <a:srgbClr val="DFE5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115568" y="2551176"/>
            <a:ext cx="9784080" cy="18288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 i="0">
                <a:solidFill>
                  <a:srgbClr val="6558D9"/>
                </a:solidFill>
                <a:latin typeface="Aptos"/>
              </a:rPr>
              <a:t>YOUR CAREER, MADE MORE ACTIONABLE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15568" y="2770632"/>
            <a:ext cx="9784080" cy="292608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 i="0">
                <a:solidFill>
                  <a:srgbClr val="14213D"/>
                </a:solidFill>
                <a:latin typeface="Aptos"/>
              </a:rPr>
              <a:t>Find your next skill to build.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96112" y="3364992"/>
            <a:ext cx="3255264" cy="685800"/>
          </a:xfrm>
          <a:prstGeom prst="roundRect">
            <a:avLst>
              <a:gd name="adj" fmla="val 13000"/>
            </a:avLst>
          </a:prstGeom>
          <a:solidFill>
            <a:srgbClr val="FFFFFF"/>
          </a:solidFill>
          <a:ln w="12700">
            <a:solidFill>
              <a:srgbClr val="DFE5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42415" y="3474720"/>
            <a:ext cx="2926080" cy="164592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80" b="1" i="0">
                <a:solidFill>
                  <a:srgbClr val="6558D9"/>
                </a:solidFill>
                <a:latin typeface="Aptos"/>
              </a:rPr>
              <a:t>REQUIRED SKILLS MATCHED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42415" y="3712463"/>
            <a:ext cx="2926080" cy="219456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66738A"/>
                </a:solidFill>
                <a:latin typeface="Aptos"/>
              </a:rPr>
              <a:t>Calculated after analysis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407408" y="3364992"/>
            <a:ext cx="3255264" cy="685800"/>
          </a:xfrm>
          <a:prstGeom prst="roundRect">
            <a:avLst>
              <a:gd name="adj" fmla="val 13000"/>
            </a:avLst>
          </a:prstGeom>
          <a:solidFill>
            <a:srgbClr val="FFFFFF"/>
          </a:solidFill>
          <a:ln w="12700">
            <a:solidFill>
              <a:srgbClr val="DFE5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553712" y="3474720"/>
            <a:ext cx="2926080" cy="164592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80" b="1" i="0">
                <a:solidFill>
                  <a:srgbClr val="17866D"/>
                </a:solidFill>
                <a:latin typeface="Aptos"/>
              </a:rPr>
              <a:t>SKILL COVERAGE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553712" y="3712463"/>
            <a:ext cx="2926080" cy="219456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66738A"/>
                </a:solidFill>
                <a:latin typeface="Aptos"/>
              </a:rPr>
              <a:t>Calculated from role catalogue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7918704" y="3364992"/>
            <a:ext cx="3255264" cy="685800"/>
          </a:xfrm>
          <a:prstGeom prst="roundRect">
            <a:avLst>
              <a:gd name="adj" fmla="val 13000"/>
            </a:avLst>
          </a:prstGeom>
          <a:solidFill>
            <a:srgbClr val="FFFFFF"/>
          </a:solidFill>
          <a:ln w="12700">
            <a:solidFill>
              <a:srgbClr val="DFE5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065008" y="3474720"/>
            <a:ext cx="2926080" cy="164592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80" b="1" i="0">
                <a:solidFill>
                  <a:srgbClr val="4578A8"/>
                </a:solidFill>
                <a:latin typeface="Aptos"/>
              </a:rPr>
              <a:t>TEXT SIMILARITY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065008" y="3712463"/>
            <a:ext cx="2926080" cy="219456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66738A"/>
                </a:solidFill>
                <a:latin typeface="Aptos"/>
              </a:rPr>
              <a:t>Calculated from text overlap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896112" y="4206240"/>
            <a:ext cx="5074920" cy="1115568"/>
          </a:xfrm>
          <a:prstGeom prst="roundRect">
            <a:avLst>
              <a:gd name="adj" fmla="val 13000"/>
            </a:avLst>
          </a:prstGeom>
          <a:solidFill>
            <a:srgbClr val="FFFFFF"/>
          </a:solidFill>
          <a:ln w="12700">
            <a:solidFill>
              <a:srgbClr val="DFE5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ounded Rectangle 27"/>
          <p:cNvSpPr/>
          <p:nvPr/>
        </p:nvSpPr>
        <p:spPr>
          <a:xfrm>
            <a:off x="6126480" y="4206240"/>
            <a:ext cx="5184648" cy="1115568"/>
          </a:xfrm>
          <a:prstGeom prst="roundRect">
            <a:avLst>
              <a:gd name="adj" fmla="val 13000"/>
            </a:avLst>
          </a:prstGeom>
          <a:solidFill>
            <a:srgbClr val="FFFFFF"/>
          </a:solidFill>
          <a:ln w="12700">
            <a:solidFill>
              <a:srgbClr val="DFE5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078992" y="4370832"/>
            <a:ext cx="4553712" cy="22860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14213D"/>
                </a:solidFill>
                <a:latin typeface="Aptos"/>
              </a:rPr>
              <a:t>Recognised skills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78992" y="4663440"/>
            <a:ext cx="4553712" cy="374904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6738A"/>
                </a:solidFill>
                <a:latin typeface="Aptos"/>
              </a:rPr>
              <a:t>Green tags show required terms found in the profile text.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1078992" y="5001768"/>
            <a:ext cx="868680" cy="201168"/>
          </a:xfrm>
          <a:prstGeom prst="roundRect">
            <a:avLst>
              <a:gd name="adj" fmla="val 13000"/>
            </a:avLst>
          </a:prstGeom>
          <a:solidFill>
            <a:srgbClr val="E9F7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1078992" y="5001768"/>
            <a:ext cx="868680" cy="2011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60" b="1" i="0">
                <a:solidFill>
                  <a:srgbClr val="17866D"/>
                </a:solidFill>
                <a:latin typeface="Aptos"/>
              </a:rPr>
              <a:t>Python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2066543" y="5001768"/>
            <a:ext cx="868680" cy="201168"/>
          </a:xfrm>
          <a:prstGeom prst="roundRect">
            <a:avLst>
              <a:gd name="adj" fmla="val 13000"/>
            </a:avLst>
          </a:prstGeom>
          <a:solidFill>
            <a:srgbClr val="EEF5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2066543" y="5001768"/>
            <a:ext cx="868680" cy="2011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60" b="1" i="0">
                <a:solidFill>
                  <a:srgbClr val="4578A8"/>
                </a:solidFill>
                <a:latin typeface="Aptos"/>
              </a:rPr>
              <a:t>SQL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3054096" y="5001768"/>
            <a:ext cx="868680" cy="201168"/>
          </a:xfrm>
          <a:prstGeom prst="roundRect">
            <a:avLst>
              <a:gd name="adj" fmla="val 13000"/>
            </a:avLst>
          </a:prstGeom>
          <a:solidFill>
            <a:srgbClr val="F0E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3054096" y="5001768"/>
            <a:ext cx="868680" cy="2011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60" b="1" i="0">
                <a:solidFill>
                  <a:srgbClr val="6558D9"/>
                </a:solidFill>
                <a:latin typeface="Aptos"/>
              </a:rPr>
              <a:t>Excel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309360" y="4370832"/>
            <a:ext cx="4663440" cy="22860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14213D"/>
                </a:solidFill>
                <a:latin typeface="Aptos"/>
              </a:rPr>
              <a:t>Skills to explore + roadmap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309360" y="4663440"/>
            <a:ext cx="4681728" cy="475488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6738A"/>
                </a:solidFill>
                <a:latin typeface="Aptos"/>
              </a:rPr>
              <a:t>Catalogue gaps are surfaced alongside numbered practice steps and downloadable reports.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896112" y="5623560"/>
            <a:ext cx="10332720" cy="246888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1">
                <a:solidFill>
                  <a:srgbClr val="66738A"/>
                </a:solidFill>
                <a:latin typeface="Aptos"/>
              </a:rPr>
              <a:t>Illustrative structure only. Actual metrics and skill tags depend on the learner profile and selected role.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7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347472"/>
            <a:ext cx="10789920" cy="201168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6558D9"/>
                </a:solidFill>
                <a:latin typeface="Aptos"/>
              </a:rPr>
              <a:t>05  /  TECHNICAL DESIGN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640080"/>
            <a:ext cx="10972800" cy="493776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500" b="1" i="0">
                <a:solidFill>
                  <a:srgbClr val="14213D"/>
                </a:solidFill>
                <a:latin typeface="Aptos"/>
              </a:rPr>
              <a:t>A small, understandable analysis pipeline.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12648" y="1170432"/>
            <a:ext cx="10789920" cy="384048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66738A"/>
                </a:solidFill>
                <a:latin typeface="Aptos"/>
              </a:rPr>
              <a:t>The current MVP uses a bundled role map and classical text methods; it does not train a custom model.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502920" y="6492240"/>
            <a:ext cx="11183112" cy="0"/>
          </a:xfrm>
          <a:prstGeom prst="line">
            <a:avLst/>
          </a:prstGeom>
          <a:ln w="8890">
            <a:solidFill>
              <a:srgbClr val="DFE5E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530352" y="6537960"/>
            <a:ext cx="4937760" cy="173736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 i="0">
                <a:solidFill>
                  <a:srgbClr val="66738A"/>
                </a:solidFill>
                <a:latin typeface="Aptos"/>
              </a:rPr>
              <a:t>SKILLMATCH AI  /  PROJECT PITCH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881360" y="6528816"/>
            <a:ext cx="777240" cy="182880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 i="0">
                <a:solidFill>
                  <a:srgbClr val="66738A"/>
                </a:solidFill>
                <a:latin typeface="Aptos"/>
              </a:rPr>
              <a:t>06 / 14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58368" y="2240280"/>
            <a:ext cx="2423160" cy="2103120"/>
          </a:xfrm>
          <a:prstGeom prst="roundRect">
            <a:avLst>
              <a:gd name="adj" fmla="val 13000"/>
            </a:avLst>
          </a:prstGeom>
          <a:solidFill>
            <a:srgbClr val="F0EFFF"/>
          </a:solidFill>
          <a:ln w="12700">
            <a:solidFill>
              <a:srgbClr val="DFE5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41247" y="2487168"/>
            <a:ext cx="2057400" cy="210312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6558D9"/>
                </a:solidFill>
                <a:latin typeface="Aptos"/>
              </a:rPr>
              <a:t>01  INPUT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41247" y="2880360"/>
            <a:ext cx="2057400" cy="987552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14213D"/>
                </a:solidFill>
                <a:latin typeface="Aptos"/>
              </a:rPr>
              <a:t>Profile text</a:t>
            </a:r>
          </a:p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14213D"/>
                </a:solidFill>
                <a:latin typeface="Aptos"/>
              </a:rPr>
              <a:t>Selected role</a:t>
            </a:r>
          </a:p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14213D"/>
                </a:solidFill>
                <a:latin typeface="Aptos"/>
              </a:rPr>
              <a:t>Optional job description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3108960" y="3273552"/>
            <a:ext cx="338327" cy="0"/>
          </a:xfrm>
          <a:prstGeom prst="line">
            <a:avLst/>
          </a:prstGeom>
          <a:ln w="21590">
            <a:solidFill>
              <a:srgbClr val="6558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3355848" y="3191256"/>
            <a:ext cx="91439" cy="82296"/>
          </a:xfrm>
          <a:prstGeom prst="line">
            <a:avLst/>
          </a:prstGeom>
          <a:ln w="21590">
            <a:solidFill>
              <a:srgbClr val="6558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 flipV="1">
            <a:off x="3355848" y="3273552"/>
            <a:ext cx="91439" cy="82296"/>
          </a:xfrm>
          <a:prstGeom prst="line">
            <a:avLst/>
          </a:prstGeom>
          <a:ln w="21590">
            <a:solidFill>
              <a:srgbClr val="6558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Rounded Rectangle 13"/>
          <p:cNvSpPr/>
          <p:nvPr/>
        </p:nvSpPr>
        <p:spPr>
          <a:xfrm>
            <a:off x="3538728" y="2240280"/>
            <a:ext cx="2423160" cy="2103120"/>
          </a:xfrm>
          <a:prstGeom prst="roundRect">
            <a:avLst>
              <a:gd name="adj" fmla="val 13000"/>
            </a:avLst>
          </a:prstGeom>
          <a:solidFill>
            <a:srgbClr val="E9F7F1"/>
          </a:solidFill>
          <a:ln w="12700">
            <a:solidFill>
              <a:srgbClr val="DFE5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721608" y="2487168"/>
            <a:ext cx="2057400" cy="210312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17866D"/>
                </a:solidFill>
                <a:latin typeface="Aptos"/>
              </a:rPr>
              <a:t>02  REFERENCE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721608" y="2880360"/>
            <a:ext cx="2057400" cy="987552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14213D"/>
                </a:solidFill>
                <a:latin typeface="Aptos"/>
              </a:rPr>
              <a:t>Bundled JSON</a:t>
            </a:r>
          </a:p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14213D"/>
                </a:solidFill>
                <a:latin typeface="Aptos"/>
              </a:rPr>
              <a:t>skill catalogue</a:t>
            </a:r>
          </a:p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14213D"/>
                </a:solidFill>
                <a:latin typeface="Aptos"/>
              </a:rPr>
              <a:t>role requirements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5989320" y="3273552"/>
            <a:ext cx="338328" cy="0"/>
          </a:xfrm>
          <a:prstGeom prst="line">
            <a:avLst/>
          </a:prstGeom>
          <a:ln w="21590">
            <a:solidFill>
              <a:srgbClr val="6558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Connector 17"/>
          <p:cNvCxnSpPr/>
          <p:nvPr/>
        </p:nvCxnSpPr>
        <p:spPr>
          <a:xfrm>
            <a:off x="6236208" y="3191256"/>
            <a:ext cx="91440" cy="82296"/>
          </a:xfrm>
          <a:prstGeom prst="line">
            <a:avLst/>
          </a:prstGeom>
          <a:ln w="21590">
            <a:solidFill>
              <a:srgbClr val="6558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Connector 18"/>
          <p:cNvCxnSpPr/>
          <p:nvPr/>
        </p:nvCxnSpPr>
        <p:spPr>
          <a:xfrm flipV="1">
            <a:off x="6236208" y="3273552"/>
            <a:ext cx="91440" cy="82296"/>
          </a:xfrm>
          <a:prstGeom prst="line">
            <a:avLst/>
          </a:prstGeom>
          <a:ln w="21590">
            <a:solidFill>
              <a:srgbClr val="6558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Rounded Rectangle 19"/>
          <p:cNvSpPr/>
          <p:nvPr/>
        </p:nvSpPr>
        <p:spPr>
          <a:xfrm>
            <a:off x="6419088" y="2240280"/>
            <a:ext cx="2423160" cy="2103120"/>
          </a:xfrm>
          <a:prstGeom prst="roundRect">
            <a:avLst>
              <a:gd name="adj" fmla="val 13000"/>
            </a:avLst>
          </a:prstGeom>
          <a:solidFill>
            <a:srgbClr val="EEF5FB"/>
          </a:solidFill>
          <a:ln w="12700">
            <a:solidFill>
              <a:srgbClr val="DFE5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601968" y="2487168"/>
            <a:ext cx="2057400" cy="210312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4578A8"/>
                </a:solidFill>
                <a:latin typeface="Aptos"/>
              </a:rPr>
              <a:t>03  METHOD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601968" y="2880360"/>
            <a:ext cx="2057400" cy="987552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14213D"/>
                </a:solidFill>
                <a:latin typeface="Aptos"/>
              </a:rPr>
              <a:t>Phrase matching</a:t>
            </a:r>
          </a:p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14213D"/>
                </a:solidFill>
                <a:latin typeface="Aptos"/>
              </a:rPr>
              <a:t>TF-IDF vectors</a:t>
            </a:r>
          </a:p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14213D"/>
                </a:solidFill>
                <a:latin typeface="Aptos"/>
              </a:rPr>
              <a:t>cosine similarity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8869680" y="3273552"/>
            <a:ext cx="338328" cy="0"/>
          </a:xfrm>
          <a:prstGeom prst="line">
            <a:avLst/>
          </a:prstGeom>
          <a:ln w="21590">
            <a:solidFill>
              <a:srgbClr val="6558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9116567" y="3191256"/>
            <a:ext cx="91441" cy="82296"/>
          </a:xfrm>
          <a:prstGeom prst="line">
            <a:avLst/>
          </a:prstGeom>
          <a:ln w="21590">
            <a:solidFill>
              <a:srgbClr val="6558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 flipV="1">
            <a:off x="9116567" y="3273552"/>
            <a:ext cx="91441" cy="82296"/>
          </a:xfrm>
          <a:prstGeom prst="line">
            <a:avLst/>
          </a:prstGeom>
          <a:ln w="21590">
            <a:solidFill>
              <a:srgbClr val="6558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Rounded Rectangle 25"/>
          <p:cNvSpPr/>
          <p:nvPr/>
        </p:nvSpPr>
        <p:spPr>
          <a:xfrm>
            <a:off x="9299448" y="2240280"/>
            <a:ext cx="2423160" cy="2103120"/>
          </a:xfrm>
          <a:prstGeom prst="roundRect">
            <a:avLst>
              <a:gd name="adj" fmla="val 13000"/>
            </a:avLst>
          </a:prstGeom>
          <a:solidFill>
            <a:srgbClr val="FFF0F2"/>
          </a:solidFill>
          <a:ln w="12700">
            <a:solidFill>
              <a:srgbClr val="DFE5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482328" y="2487168"/>
            <a:ext cx="2057400" cy="210312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C8566B"/>
                </a:solidFill>
                <a:latin typeface="Aptos"/>
              </a:rPr>
              <a:t>04  OUTPUT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482328" y="2880360"/>
            <a:ext cx="2057400" cy="987552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14213D"/>
                </a:solidFill>
                <a:latin typeface="Aptos"/>
              </a:rPr>
              <a:t>Matched / missing</a:t>
            </a:r>
          </a:p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14213D"/>
                </a:solidFill>
                <a:latin typeface="Aptos"/>
              </a:rPr>
              <a:t>coverage + similarity</a:t>
            </a:r>
          </a:p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14213D"/>
                </a:solidFill>
                <a:latin typeface="Aptos"/>
              </a:rPr>
              <a:t>roadmap + exports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658368" y="4800600"/>
            <a:ext cx="10890504" cy="804672"/>
          </a:xfrm>
          <a:prstGeom prst="roundRect">
            <a:avLst>
              <a:gd name="adj" fmla="val 13000"/>
            </a:avLst>
          </a:prstGeom>
          <a:solidFill>
            <a:srgbClr val="1421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914400" y="4983480"/>
            <a:ext cx="1874519" cy="201168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 i="0">
                <a:solidFill>
                  <a:srgbClr val="C9C4FF"/>
                </a:solidFill>
                <a:latin typeface="Aptos"/>
              </a:rPr>
              <a:t>IMPLEMENTATION STACK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14400" y="5257800"/>
            <a:ext cx="10149840" cy="22860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FFFFFF"/>
                </a:solidFill>
                <a:latin typeface="Aptos"/>
              </a:rPr>
              <a:t>Python  •  Streamlit UI  •  pandas exports  •  scikit-learn text similarity  •  JSON catalogues  •  Community Cloud deployment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04088" y="5806440"/>
            <a:ext cx="10607040" cy="292608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1">
                <a:solidFill>
                  <a:srgbClr val="66738A"/>
                </a:solidFill>
                <a:latin typeface="Aptos"/>
              </a:rPr>
              <a:t>No external API key or large runtime dataset is required. The prototype is catalogue-limited and designed for transparent exploration.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347472"/>
            <a:ext cx="10789920" cy="201168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6558D9"/>
                </a:solidFill>
                <a:latin typeface="Aptos"/>
              </a:rPr>
              <a:t>06  /  THE METHOD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640080"/>
            <a:ext cx="10972800" cy="493776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500" b="1" i="0">
                <a:solidFill>
                  <a:srgbClr val="14213D"/>
                </a:solidFill>
                <a:latin typeface="Aptos"/>
              </a:rPr>
              <a:t>Two signals answer two different questions.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12648" y="1170432"/>
            <a:ext cx="10789920" cy="384048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66738A"/>
                </a:solidFill>
                <a:latin typeface="Aptos"/>
              </a:rPr>
              <a:t>Keeping the signals separate makes the output easier to explain and harder to over-interpret.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502920" y="6492240"/>
            <a:ext cx="11183112" cy="0"/>
          </a:xfrm>
          <a:prstGeom prst="line">
            <a:avLst/>
          </a:prstGeom>
          <a:ln w="8890">
            <a:solidFill>
              <a:srgbClr val="DFE5E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530352" y="6537960"/>
            <a:ext cx="4937760" cy="173736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 i="0">
                <a:solidFill>
                  <a:srgbClr val="66738A"/>
                </a:solidFill>
                <a:latin typeface="Aptos"/>
              </a:rPr>
              <a:t>SKILLMATCH AI  /  PROJECT PITCH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881360" y="6528816"/>
            <a:ext cx="777240" cy="182880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 i="0">
                <a:solidFill>
                  <a:srgbClr val="66738A"/>
                </a:solidFill>
                <a:latin typeface="Aptos"/>
              </a:rPr>
              <a:t>07 / 14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58368" y="1828800"/>
            <a:ext cx="5257800" cy="2697480"/>
          </a:xfrm>
          <a:prstGeom prst="roundRect">
            <a:avLst>
              <a:gd name="adj" fmla="val 13000"/>
            </a:avLst>
          </a:prstGeom>
          <a:solidFill>
            <a:srgbClr val="F0EFFF"/>
          </a:solidFill>
          <a:ln w="12700">
            <a:solidFill>
              <a:srgbClr val="DFE5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58368" y="1828800"/>
            <a:ext cx="64008" cy="2697480"/>
          </a:xfrm>
          <a:prstGeom prst="rect">
            <a:avLst/>
          </a:prstGeom>
          <a:solidFill>
            <a:srgbClr val="655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68680" y="1965960"/>
            <a:ext cx="4864608" cy="173736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 i="0">
                <a:solidFill>
                  <a:srgbClr val="6558D9"/>
                </a:solidFill>
                <a:latin typeface="Aptos"/>
              </a:rPr>
              <a:t>CATALOGUE MATCH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" y="2212848"/>
            <a:ext cx="4864608" cy="310896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 i="0">
                <a:solidFill>
                  <a:srgbClr val="14213D"/>
                </a:solidFill>
                <a:latin typeface="Aptos"/>
              </a:rPr>
              <a:t>1. Phrase-based skill recognition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68680" y="2606040"/>
            <a:ext cx="4855464" cy="182880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66738A"/>
                </a:solidFill>
                <a:latin typeface="Aptos"/>
              </a:rPr>
              <a:t>Question: “Which catalogue-listed skills appear in the profile?”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66738A"/>
                </a:solidFill>
                <a:latin typeface="Aptos"/>
              </a:rPr>
              <a:t/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66738A"/>
                </a:solidFill>
                <a:latin typeface="Aptos"/>
              </a:rPr>
              <a:t>The app searches for known skill phrases and compares recognised terms with the role template. Exact wording and catalogue coverage matter.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144768" y="1828800"/>
            <a:ext cx="5257800" cy="2697480"/>
          </a:xfrm>
          <a:prstGeom prst="roundRect">
            <a:avLst>
              <a:gd name="adj" fmla="val 13000"/>
            </a:avLst>
          </a:prstGeom>
          <a:solidFill>
            <a:srgbClr val="EEF5FB"/>
          </a:solidFill>
          <a:ln w="12700">
            <a:solidFill>
              <a:srgbClr val="DFE5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144768" y="1828800"/>
            <a:ext cx="64008" cy="2697480"/>
          </a:xfrm>
          <a:prstGeom prst="rect">
            <a:avLst/>
          </a:prstGeom>
          <a:solidFill>
            <a:srgbClr val="4578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355080" y="1965960"/>
            <a:ext cx="4864608" cy="173736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 i="0">
                <a:solidFill>
                  <a:srgbClr val="4578A8"/>
                </a:solidFill>
                <a:latin typeface="Aptos"/>
              </a:rPr>
              <a:t>TEXT SIMILARITY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355080" y="2212848"/>
            <a:ext cx="4864608" cy="310896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 i="0">
                <a:solidFill>
                  <a:srgbClr val="14213D"/>
                </a:solidFill>
                <a:latin typeface="Aptos"/>
              </a:rPr>
              <a:t>2. TF-IDF + cosine similarity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355080" y="2606040"/>
            <a:ext cx="4855464" cy="182880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66738A"/>
                </a:solidFill>
                <a:latin typeface="Aptos"/>
              </a:rPr>
              <a:t>Question: “How much does this text overlap with the role or job-description text?”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66738A"/>
                </a:solidFill>
                <a:latin typeface="Aptos"/>
              </a:rPr>
              <a:t/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66738A"/>
                </a:solidFill>
                <a:latin typeface="Aptos"/>
              </a:rPr>
              <a:t>Text is vectorised with TF-IDF and compared using cosine similarity. This measures lexical alignment, not competence.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58368" y="4919472"/>
            <a:ext cx="10744200" cy="777240"/>
          </a:xfrm>
          <a:prstGeom prst="roundRect">
            <a:avLst>
              <a:gd name="adj" fmla="val 13000"/>
            </a:avLst>
          </a:prstGeom>
          <a:solidFill>
            <a:srgbClr val="FFF4E5"/>
          </a:solidFill>
          <a:ln w="12700">
            <a:solidFill>
              <a:srgbClr val="F1DAB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96112" y="5093208"/>
            <a:ext cx="1325880" cy="219456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8A5B17"/>
                </a:solidFill>
                <a:latin typeface="Aptos"/>
              </a:rPr>
              <a:t>IMPORTANT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993392" y="5065776"/>
            <a:ext cx="9098280" cy="347472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14213D"/>
                </a:solidFill>
                <a:latin typeface="Aptos"/>
              </a:rPr>
              <a:t>A term can be recognised without proving that the learner can use that skill well.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7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347472"/>
            <a:ext cx="10789920" cy="201168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6558D9"/>
                </a:solidFill>
                <a:latin typeface="Aptos"/>
              </a:rPr>
              <a:t>07  /  EXAMPLE WALKTHROUGH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640080"/>
            <a:ext cx="10972800" cy="493776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500" b="1" i="0">
                <a:solidFill>
                  <a:srgbClr val="14213D"/>
                </a:solidFill>
                <a:latin typeface="Aptos"/>
              </a:rPr>
              <a:t>A student preparing for a Data Analyst internship.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12648" y="1170432"/>
            <a:ext cx="10789920" cy="384048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66738A"/>
                </a:solidFill>
                <a:latin typeface="Aptos"/>
              </a:rPr>
              <a:t>Example workflow only; outputs depend on the text supplied and the current role catalogue.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502920" y="6492240"/>
            <a:ext cx="11183112" cy="0"/>
          </a:xfrm>
          <a:prstGeom prst="line">
            <a:avLst/>
          </a:prstGeom>
          <a:ln w="8890">
            <a:solidFill>
              <a:srgbClr val="DFE5E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530352" y="6537960"/>
            <a:ext cx="4937760" cy="173736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 i="0">
                <a:solidFill>
                  <a:srgbClr val="66738A"/>
                </a:solidFill>
                <a:latin typeface="Aptos"/>
              </a:rPr>
              <a:t>SKILLMATCH AI  /  PROJECT PITCH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881360" y="6528816"/>
            <a:ext cx="777240" cy="182880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 i="0">
                <a:solidFill>
                  <a:srgbClr val="66738A"/>
                </a:solidFill>
                <a:latin typeface="Aptos"/>
              </a:rPr>
              <a:t>08 / 14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58368" y="1828800"/>
            <a:ext cx="3703320" cy="3474720"/>
          </a:xfrm>
          <a:prstGeom prst="roundRect">
            <a:avLst>
              <a:gd name="adj" fmla="val 13000"/>
            </a:avLst>
          </a:prstGeom>
          <a:solidFill>
            <a:srgbClr val="FFFFFF"/>
          </a:solidFill>
          <a:ln w="12700">
            <a:solidFill>
              <a:srgbClr val="DFE5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2084831"/>
            <a:ext cx="3154680" cy="210312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 i="0">
                <a:solidFill>
                  <a:srgbClr val="6558D9"/>
                </a:solidFill>
                <a:latin typeface="Aptos"/>
              </a:rPr>
              <a:t>PROFILE TEXT MIGHT INCLUDE</a:t>
            </a:r>
          </a:p>
        </p:txBody>
      </p:sp>
      <p:sp>
        <p:nvSpPr>
          <p:cNvPr id="10" name="Oval 9"/>
          <p:cNvSpPr/>
          <p:nvPr/>
        </p:nvSpPr>
        <p:spPr>
          <a:xfrm>
            <a:off x="914400" y="2514600"/>
            <a:ext cx="256032" cy="256032"/>
          </a:xfrm>
          <a:prstGeom prst="ellipse">
            <a:avLst/>
          </a:prstGeom>
          <a:solidFill>
            <a:srgbClr val="655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4400" y="2519172"/>
            <a:ext cx="256032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FFFFFF"/>
                </a:solidFill>
                <a:latin typeface="Aptos"/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280160" y="2496312"/>
            <a:ext cx="2697480" cy="292608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18243A"/>
                </a:solidFill>
                <a:latin typeface="Aptos"/>
              </a:rPr>
              <a:t>Python and SQL</a:t>
            </a:r>
          </a:p>
        </p:txBody>
      </p:sp>
      <p:sp>
        <p:nvSpPr>
          <p:cNvPr id="13" name="Oval 12"/>
          <p:cNvSpPr/>
          <p:nvPr/>
        </p:nvSpPr>
        <p:spPr>
          <a:xfrm>
            <a:off x="914400" y="2990088"/>
            <a:ext cx="256032" cy="256032"/>
          </a:xfrm>
          <a:prstGeom prst="ellipse">
            <a:avLst/>
          </a:prstGeom>
          <a:solidFill>
            <a:srgbClr val="17866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14400" y="2994660"/>
            <a:ext cx="256032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FFFFFF"/>
                </a:solidFill>
                <a:latin typeface="Aptos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280160" y="2971800"/>
            <a:ext cx="2697480" cy="292608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18243A"/>
                </a:solidFill>
                <a:latin typeface="Aptos"/>
              </a:rPr>
              <a:t>Excel, pandas and NumPy</a:t>
            </a:r>
          </a:p>
        </p:txBody>
      </p:sp>
      <p:sp>
        <p:nvSpPr>
          <p:cNvPr id="16" name="Oval 15"/>
          <p:cNvSpPr/>
          <p:nvPr/>
        </p:nvSpPr>
        <p:spPr>
          <a:xfrm>
            <a:off x="914400" y="3465576"/>
            <a:ext cx="256032" cy="256032"/>
          </a:xfrm>
          <a:prstGeom prst="ellipse">
            <a:avLst/>
          </a:prstGeom>
          <a:solidFill>
            <a:srgbClr val="4578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14400" y="3470148"/>
            <a:ext cx="256032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FFFFFF"/>
                </a:solidFill>
                <a:latin typeface="Aptos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280160" y="3447288"/>
            <a:ext cx="2697480" cy="292608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18243A"/>
                </a:solidFill>
                <a:latin typeface="Aptos"/>
              </a:rPr>
              <a:t>Data cleaning and statistics</a:t>
            </a:r>
          </a:p>
        </p:txBody>
      </p:sp>
      <p:sp>
        <p:nvSpPr>
          <p:cNvPr id="19" name="Oval 18"/>
          <p:cNvSpPr/>
          <p:nvPr/>
        </p:nvSpPr>
        <p:spPr>
          <a:xfrm>
            <a:off x="914400" y="3941064"/>
            <a:ext cx="256032" cy="256032"/>
          </a:xfrm>
          <a:prstGeom prst="ellipse">
            <a:avLst/>
          </a:prstGeom>
          <a:solidFill>
            <a:srgbClr val="C856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14400" y="3945636"/>
            <a:ext cx="256032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FFFFFF"/>
                </a:solidFill>
                <a:latin typeface="Aptos"/>
              </a:rPr>
              <a:t>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3922776"/>
            <a:ext cx="2697480" cy="292608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18243A"/>
                </a:solidFill>
                <a:latin typeface="Aptos"/>
              </a:rPr>
              <a:t>Power BI dashboard project</a:t>
            </a:r>
          </a:p>
        </p:txBody>
      </p:sp>
      <p:sp>
        <p:nvSpPr>
          <p:cNvPr id="22" name="Oval 21"/>
          <p:cNvSpPr/>
          <p:nvPr/>
        </p:nvSpPr>
        <p:spPr>
          <a:xfrm>
            <a:off x="914400" y="4416552"/>
            <a:ext cx="256032" cy="256032"/>
          </a:xfrm>
          <a:prstGeom prst="ellipse">
            <a:avLst/>
          </a:prstGeom>
          <a:solidFill>
            <a:srgbClr val="1421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14400" y="4421124"/>
            <a:ext cx="256032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FFFFFF"/>
                </a:solidFill>
                <a:latin typeface="Aptos"/>
              </a:rPr>
              <a:t>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280160" y="4398264"/>
            <a:ext cx="2697480" cy="292608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18243A"/>
                </a:solidFill>
                <a:latin typeface="Aptos"/>
              </a:rPr>
              <a:t>Git and problem solving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4617720" y="2514600"/>
            <a:ext cx="2468880" cy="1554480"/>
          </a:xfrm>
          <a:prstGeom prst="roundRect">
            <a:avLst>
              <a:gd name="adj" fmla="val 13000"/>
            </a:avLst>
          </a:prstGeom>
          <a:solidFill>
            <a:srgbClr val="F0EFFF"/>
          </a:solidFill>
          <a:ln w="12700">
            <a:solidFill>
              <a:srgbClr val="DDD9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828032" y="2752344"/>
            <a:ext cx="2039112" cy="18288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 i="0">
                <a:solidFill>
                  <a:srgbClr val="6558D9"/>
                </a:solidFill>
                <a:latin typeface="Aptos"/>
              </a:rPr>
              <a:t>TARGET ROLE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828032" y="3063240"/>
            <a:ext cx="2039112" cy="374904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900" b="1" i="0">
                <a:solidFill>
                  <a:srgbClr val="14213D"/>
                </a:solidFill>
                <a:latin typeface="Aptos"/>
              </a:rPr>
              <a:t>Data Analyst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828032" y="3575304"/>
            <a:ext cx="2039112" cy="256032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6558D9"/>
                </a:solidFill>
                <a:latin typeface="Aptos"/>
              </a:rPr>
              <a:t>Run analysis  →</a:t>
            </a:r>
          </a:p>
        </p:txBody>
      </p:sp>
      <p:cxnSp>
        <p:nvCxnSpPr>
          <p:cNvPr id="29" name="Connector 28"/>
          <p:cNvCxnSpPr/>
          <p:nvPr/>
        </p:nvCxnSpPr>
        <p:spPr>
          <a:xfrm>
            <a:off x="4370832" y="3291840"/>
            <a:ext cx="201168" cy="0"/>
          </a:xfrm>
          <a:prstGeom prst="line">
            <a:avLst/>
          </a:prstGeom>
          <a:ln w="22860">
            <a:solidFill>
              <a:srgbClr val="6558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7095744" y="3291840"/>
            <a:ext cx="201168" cy="0"/>
          </a:xfrm>
          <a:prstGeom prst="line">
            <a:avLst/>
          </a:prstGeom>
          <a:ln w="22860">
            <a:solidFill>
              <a:srgbClr val="6558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" name="Rounded Rectangle 30"/>
          <p:cNvSpPr/>
          <p:nvPr/>
        </p:nvSpPr>
        <p:spPr>
          <a:xfrm>
            <a:off x="7424927" y="1828800"/>
            <a:ext cx="3858768" cy="3474720"/>
          </a:xfrm>
          <a:prstGeom prst="roundRect">
            <a:avLst>
              <a:gd name="adj" fmla="val 13000"/>
            </a:avLst>
          </a:prstGeom>
          <a:solidFill>
            <a:srgbClr val="FFFFFF"/>
          </a:solidFill>
          <a:ln w="12700">
            <a:solidFill>
              <a:srgbClr val="DFE5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7680960" y="2084831"/>
            <a:ext cx="3291840" cy="201168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 i="0">
                <a:solidFill>
                  <a:srgbClr val="17866D"/>
                </a:solidFill>
                <a:latin typeface="Aptos"/>
              </a:rPr>
              <a:t>WHAT THE APP RETURNS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7699248" y="2505456"/>
            <a:ext cx="82296" cy="256032"/>
          </a:xfrm>
          <a:prstGeom prst="roundRect">
            <a:avLst>
              <a:gd name="adj" fmla="val 13000"/>
            </a:avLst>
          </a:prstGeom>
          <a:solidFill>
            <a:srgbClr val="17866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7918704" y="2487168"/>
            <a:ext cx="1024128" cy="237744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14213D"/>
                </a:solidFill>
                <a:latin typeface="Aptos"/>
              </a:rPr>
              <a:t>Recognised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915400" y="2487168"/>
            <a:ext cx="1993392" cy="384048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30" b="0" i="0">
                <a:solidFill>
                  <a:srgbClr val="66738A"/>
                </a:solidFill>
                <a:latin typeface="Aptos"/>
              </a:rPr>
              <a:t>Terms found in the profile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7699248" y="3127248"/>
            <a:ext cx="82296" cy="256032"/>
          </a:xfrm>
          <a:prstGeom prst="roundRect">
            <a:avLst>
              <a:gd name="adj" fmla="val 13000"/>
            </a:avLst>
          </a:prstGeom>
          <a:solidFill>
            <a:srgbClr val="C856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7918704" y="3108960"/>
            <a:ext cx="1024128" cy="237744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14213D"/>
                </a:solidFill>
                <a:latin typeface="Aptos"/>
              </a:rPr>
              <a:t>Gaps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915400" y="3108960"/>
            <a:ext cx="1993392" cy="384048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30" b="0" i="0">
                <a:solidFill>
                  <a:srgbClr val="66738A"/>
                </a:solidFill>
                <a:latin typeface="Aptos"/>
              </a:rPr>
              <a:t>Role terms not recognised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7699248" y="3749039"/>
            <a:ext cx="82296" cy="256032"/>
          </a:xfrm>
          <a:prstGeom prst="roundRect">
            <a:avLst>
              <a:gd name="adj" fmla="val 13000"/>
            </a:avLst>
          </a:prstGeom>
          <a:solidFill>
            <a:srgbClr val="655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7918704" y="3730752"/>
            <a:ext cx="1024128" cy="237744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14213D"/>
                </a:solidFill>
                <a:latin typeface="Aptos"/>
              </a:rPr>
              <a:t>Roadmap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8915400" y="3730752"/>
            <a:ext cx="1993392" cy="384048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30" b="0" i="0">
                <a:solidFill>
                  <a:srgbClr val="66738A"/>
                </a:solidFill>
                <a:latin typeface="Aptos"/>
              </a:rPr>
              <a:t>Practice-oriented next steps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7699248" y="4370831"/>
            <a:ext cx="82296" cy="256032"/>
          </a:xfrm>
          <a:prstGeom prst="roundRect">
            <a:avLst>
              <a:gd name="adj" fmla="val 13000"/>
            </a:avLst>
          </a:prstGeom>
          <a:solidFill>
            <a:srgbClr val="4578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7918704" y="4352544"/>
            <a:ext cx="1024128" cy="237744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14213D"/>
                </a:solidFill>
                <a:latin typeface="Aptos"/>
              </a:rPr>
              <a:t>Downloads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8915400" y="4352544"/>
            <a:ext cx="1993392" cy="384048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30" b="0" i="0">
                <a:solidFill>
                  <a:srgbClr val="66738A"/>
                </a:solidFill>
                <a:latin typeface="Aptos"/>
              </a:rPr>
              <a:t>CSV summary + TXT plan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658368" y="5596128"/>
            <a:ext cx="10625328" cy="502920"/>
          </a:xfrm>
          <a:prstGeom prst="roundRect">
            <a:avLst>
              <a:gd name="adj" fmla="val 13000"/>
            </a:avLst>
          </a:prstGeom>
          <a:solidFill>
            <a:srgbClr val="1421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868680" y="5696712"/>
            <a:ext cx="10195560" cy="283464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FFFFFF"/>
                </a:solidFill>
                <a:latin typeface="Aptos"/>
              </a:rPr>
              <a:t>The user still verifies the original job listing and decides which gaps matter most.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347472"/>
            <a:ext cx="10789920" cy="201168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6558D9"/>
                </a:solidFill>
                <a:latin typeface="Aptos"/>
              </a:rPr>
              <a:t>08  /  READING THE RESULTS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640080"/>
            <a:ext cx="10972800" cy="493776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500" b="1" i="0">
                <a:solidFill>
                  <a:srgbClr val="14213D"/>
                </a:solidFill>
                <a:latin typeface="Aptos"/>
              </a:rPr>
              <a:t>Useful signals, with clear boundaries.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12648" y="1170432"/>
            <a:ext cx="10789920" cy="384048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66738A"/>
                </a:solidFill>
                <a:latin typeface="Aptos"/>
              </a:rPr>
              <a:t>Metric definitions are part of the product design - the numbers should never be mistaken for a promise.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502920" y="6492240"/>
            <a:ext cx="11183112" cy="0"/>
          </a:xfrm>
          <a:prstGeom prst="line">
            <a:avLst/>
          </a:prstGeom>
          <a:ln w="8890">
            <a:solidFill>
              <a:srgbClr val="DFE5E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530352" y="6537960"/>
            <a:ext cx="4937760" cy="173736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 i="0">
                <a:solidFill>
                  <a:srgbClr val="66738A"/>
                </a:solidFill>
                <a:latin typeface="Aptos"/>
              </a:rPr>
              <a:t>SKILLMATCH AI  /  PROJECT PITCH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881360" y="6528816"/>
            <a:ext cx="777240" cy="182880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 i="0">
                <a:solidFill>
                  <a:srgbClr val="66738A"/>
                </a:solidFill>
                <a:latin typeface="Aptos"/>
              </a:rPr>
              <a:t>09 / 14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58368" y="1874519"/>
            <a:ext cx="5248656" cy="2404872"/>
          </a:xfrm>
          <a:prstGeom prst="roundRect">
            <a:avLst>
              <a:gd name="adj" fmla="val 13000"/>
            </a:avLst>
          </a:prstGeom>
          <a:solidFill>
            <a:srgbClr val="F0EFFF"/>
          </a:solidFill>
          <a:ln w="12700">
            <a:solidFill>
              <a:srgbClr val="DED9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60120" y="2157984"/>
            <a:ext cx="4617720" cy="210312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6558D9"/>
                </a:solidFill>
                <a:latin typeface="Aptos"/>
              </a:rPr>
              <a:t>SKILL COVERAGE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60120" y="2542032"/>
            <a:ext cx="4617720" cy="50292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 i="0">
                <a:solidFill>
                  <a:srgbClr val="14213D"/>
                </a:solidFill>
                <a:latin typeface="Aptos"/>
              </a:rPr>
              <a:t>Matched role skills ÷ required catalogue skills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60120" y="3246120"/>
            <a:ext cx="4572000" cy="64008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66738A"/>
                </a:solidFill>
                <a:latin typeface="Aptos"/>
              </a:rPr>
              <a:t>Counts terms recognised by the current role map. It does not verify depth, recency or quality of a skill.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99632" y="1874519"/>
            <a:ext cx="5248656" cy="2404872"/>
          </a:xfrm>
          <a:prstGeom prst="roundRect">
            <a:avLst>
              <a:gd name="adj" fmla="val 13000"/>
            </a:avLst>
          </a:prstGeom>
          <a:solidFill>
            <a:srgbClr val="EEF5FB"/>
          </a:solidFill>
          <a:ln w="12700">
            <a:solidFill>
              <a:srgbClr val="D9E7F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92240" y="2157984"/>
            <a:ext cx="4617720" cy="210312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4578A8"/>
                </a:solidFill>
                <a:latin typeface="Aptos"/>
              </a:rPr>
              <a:t>TEXT SIMILARITY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92240" y="2542032"/>
            <a:ext cx="4617720" cy="50292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 i="0">
                <a:solidFill>
                  <a:srgbClr val="14213D"/>
                </a:solidFill>
                <a:latin typeface="Aptos"/>
              </a:rPr>
              <a:t>TF-IDF vectors compared with cosine similarity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92240" y="3246120"/>
            <a:ext cx="4617720" cy="64008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66738A"/>
                </a:solidFill>
                <a:latin typeface="Aptos"/>
              </a:rPr>
              <a:t>A language-overlap signal that can change with wording. It is not a probability of interview, selection or success.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58368" y="4736592"/>
            <a:ext cx="10789920" cy="841248"/>
          </a:xfrm>
          <a:prstGeom prst="roundRect">
            <a:avLst>
              <a:gd name="adj" fmla="val 13000"/>
            </a:avLst>
          </a:prstGeom>
          <a:solidFill>
            <a:srgbClr val="1421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32688" y="4919472"/>
            <a:ext cx="1920240" cy="219456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 i="0">
                <a:solidFill>
                  <a:srgbClr val="C9C4FF"/>
                </a:solidFill>
                <a:latin typeface="Aptos"/>
              </a:rPr>
              <a:t>SAFE INTERPRETATION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743200" y="4882896"/>
            <a:ext cx="8321040" cy="384048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FFFFFF"/>
                </a:solidFill>
                <a:latin typeface="Aptos"/>
              </a:rPr>
              <a:t>Use the output as a checklist for reflection - then confirm requirements and practise the skill.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7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347472"/>
            <a:ext cx="10789920" cy="201168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6558D9"/>
                </a:solidFill>
                <a:latin typeface="Aptos"/>
              </a:rPr>
              <a:t>09  /  PURPOSE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640080"/>
            <a:ext cx="10972800" cy="493776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500" b="1" i="0">
                <a:solidFill>
                  <a:srgbClr val="14213D"/>
                </a:solidFill>
                <a:latin typeface="Aptos"/>
              </a:rPr>
              <a:t>An education tool with a career-readiness use case.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12648" y="1170432"/>
            <a:ext cx="10789920" cy="384048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66738A"/>
                </a:solidFill>
                <a:latin typeface="Aptos"/>
              </a:rPr>
              <a:t>The SDG link is the project’s intended contribution, not an evaluated impact result.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502920" y="6492240"/>
            <a:ext cx="11183112" cy="0"/>
          </a:xfrm>
          <a:prstGeom prst="line">
            <a:avLst/>
          </a:prstGeom>
          <a:ln w="8890">
            <a:solidFill>
              <a:srgbClr val="DFE5E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530352" y="6537960"/>
            <a:ext cx="4937760" cy="173736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 i="0">
                <a:solidFill>
                  <a:srgbClr val="66738A"/>
                </a:solidFill>
                <a:latin typeface="Aptos"/>
              </a:rPr>
              <a:t>SKILLMATCH AI  /  PROJECT PITCH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881360" y="6528816"/>
            <a:ext cx="777240" cy="182880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 i="0">
                <a:solidFill>
                  <a:srgbClr val="66738A"/>
                </a:solidFill>
                <a:latin typeface="Aptos"/>
              </a:rPr>
              <a:t>10 / 14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85800" y="1874519"/>
            <a:ext cx="5257800" cy="2880360"/>
          </a:xfrm>
          <a:prstGeom prst="roundRect">
            <a:avLst>
              <a:gd name="adj" fmla="val 13000"/>
            </a:avLst>
          </a:prstGeom>
          <a:solidFill>
            <a:srgbClr val="FFFFFF"/>
          </a:solidFill>
          <a:ln w="12700">
            <a:solidFill>
              <a:srgbClr val="DFE5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85800" y="1874519"/>
            <a:ext cx="5257800" cy="128016"/>
          </a:xfrm>
          <a:prstGeom prst="rect">
            <a:avLst/>
          </a:prstGeom>
          <a:solidFill>
            <a:srgbClr val="655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960120" y="2212848"/>
            <a:ext cx="658368" cy="658368"/>
          </a:xfrm>
          <a:prstGeom prst="roundRect">
            <a:avLst>
              <a:gd name="adj" fmla="val 13000"/>
            </a:avLst>
          </a:prstGeom>
          <a:solidFill>
            <a:srgbClr val="655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60120" y="2240280"/>
            <a:ext cx="658368" cy="58521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300" b="1" i="0">
                <a:solidFill>
                  <a:srgbClr val="FFFFFF"/>
                </a:solidFill>
                <a:latin typeface="Aptos"/>
              </a:rPr>
              <a:t>04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828800" y="2267712"/>
            <a:ext cx="3611880" cy="256032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 i="0">
                <a:solidFill>
                  <a:srgbClr val="14213D"/>
                </a:solidFill>
                <a:latin typeface="Aptos"/>
              </a:rPr>
              <a:t>SDG 4  /  Quality education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60120" y="3182112"/>
            <a:ext cx="4526280" cy="82296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66738A"/>
                </a:solidFill>
                <a:latin typeface="Aptos"/>
              </a:rPr>
              <a:t>The tool aims to make career-linked skill development more legible: learners can identify terms to practise and organise their next steps.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217920" y="1874519"/>
            <a:ext cx="5257800" cy="2880360"/>
          </a:xfrm>
          <a:prstGeom prst="roundRect">
            <a:avLst>
              <a:gd name="adj" fmla="val 13000"/>
            </a:avLst>
          </a:prstGeom>
          <a:solidFill>
            <a:srgbClr val="FFFFFF"/>
          </a:solidFill>
          <a:ln w="12700">
            <a:solidFill>
              <a:srgbClr val="DFE5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217920" y="1874519"/>
            <a:ext cx="5257800" cy="128016"/>
          </a:xfrm>
          <a:prstGeom prst="rect">
            <a:avLst/>
          </a:prstGeom>
          <a:solidFill>
            <a:srgbClr val="17866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6492240" y="2212848"/>
            <a:ext cx="658368" cy="658368"/>
          </a:xfrm>
          <a:prstGeom prst="roundRect">
            <a:avLst>
              <a:gd name="adj" fmla="val 13000"/>
            </a:avLst>
          </a:prstGeom>
          <a:solidFill>
            <a:srgbClr val="17866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492240" y="2240280"/>
            <a:ext cx="658368" cy="58521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300" b="1" i="0">
                <a:solidFill>
                  <a:srgbClr val="FFFFFF"/>
                </a:solidFill>
                <a:latin typeface="Aptos"/>
              </a:rPr>
              <a:t>08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360920" y="2267712"/>
            <a:ext cx="3611880" cy="256032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 i="0">
                <a:solidFill>
                  <a:srgbClr val="14213D"/>
                </a:solidFill>
                <a:latin typeface="Aptos"/>
              </a:rPr>
              <a:t>SDG 8  /  Decent work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92240" y="3182112"/>
            <a:ext cx="4526280" cy="82296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66738A"/>
                </a:solidFill>
                <a:latin typeface="Aptos"/>
              </a:rPr>
              <a:t>The supporting link is career preparation: a clearer view of role requirements may help students plan for internships and early-career opportunities.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85800" y="5120640"/>
            <a:ext cx="10789920" cy="585216"/>
          </a:xfrm>
          <a:prstGeom prst="roundRect">
            <a:avLst>
              <a:gd name="adj" fmla="val 13000"/>
            </a:avLst>
          </a:prstGeom>
          <a:solidFill>
            <a:srgbClr val="FFF4E5"/>
          </a:solidFill>
          <a:ln w="12700">
            <a:solidFill>
              <a:srgbClr val="F1DAB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14400" y="5266944"/>
            <a:ext cx="10314432" cy="265176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83591D"/>
                </a:solidFill>
                <a:latin typeface="Aptos"/>
              </a:rPr>
              <a:t>Impact must be tested through learner feedback and outcome measures before making stronger claims.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347472"/>
            <a:ext cx="10789920" cy="201168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6558D9"/>
                </a:solidFill>
                <a:latin typeface="Aptos"/>
              </a:rPr>
              <a:t>10  /  FEASIBILITY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640080"/>
            <a:ext cx="10972800" cy="493776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500" b="1" i="0">
                <a:solidFill>
                  <a:srgbClr val="14213D"/>
                </a:solidFill>
                <a:latin typeface="Aptos"/>
              </a:rPr>
              <a:t>A modest project model designed to be tested.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12648" y="1170432"/>
            <a:ext cx="10789920" cy="384048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66738A"/>
                </a:solidFill>
                <a:latin typeface="Aptos"/>
              </a:rPr>
              <a:t>The attached Lean Canvas records the assumptions; this slide highlights the most important ones.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502920" y="6492240"/>
            <a:ext cx="11183112" cy="0"/>
          </a:xfrm>
          <a:prstGeom prst="line">
            <a:avLst/>
          </a:prstGeom>
          <a:ln w="8890">
            <a:solidFill>
              <a:srgbClr val="DFE5E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530352" y="6537960"/>
            <a:ext cx="4937760" cy="173736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 i="0">
                <a:solidFill>
                  <a:srgbClr val="66738A"/>
                </a:solidFill>
                <a:latin typeface="Aptos"/>
              </a:rPr>
              <a:t>SKILLMATCH AI  /  PROJECT PITCH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881360" y="6528816"/>
            <a:ext cx="777240" cy="182880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 i="0">
                <a:solidFill>
                  <a:srgbClr val="66738A"/>
                </a:solidFill>
                <a:latin typeface="Aptos"/>
              </a:rPr>
              <a:t>11 / 14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85800" y="2331720"/>
            <a:ext cx="5084064" cy="1307592"/>
          </a:xfrm>
          <a:prstGeom prst="roundRect">
            <a:avLst>
              <a:gd name="adj" fmla="val 13000"/>
            </a:avLst>
          </a:prstGeom>
          <a:solidFill>
            <a:srgbClr val="F0EFFF"/>
          </a:solidFill>
          <a:ln w="12700">
            <a:solidFill>
              <a:srgbClr val="DFE5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96112" y="2532888"/>
            <a:ext cx="4663440" cy="173736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 i="0">
                <a:solidFill>
                  <a:srgbClr val="6558D9"/>
                </a:solidFill>
                <a:latin typeface="Aptos"/>
              </a:rPr>
              <a:t>USERS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96112" y="2816352"/>
            <a:ext cx="4663440" cy="658368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14213D"/>
                </a:solidFill>
                <a:latin typeface="Aptos"/>
              </a:rPr>
              <a:t>University students and early-career applicants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172200" y="2331720"/>
            <a:ext cx="5084064" cy="1307592"/>
          </a:xfrm>
          <a:prstGeom prst="roundRect">
            <a:avLst>
              <a:gd name="adj" fmla="val 13000"/>
            </a:avLst>
          </a:prstGeom>
          <a:solidFill>
            <a:srgbClr val="E9F7F1"/>
          </a:solidFill>
          <a:ln w="12700">
            <a:solidFill>
              <a:srgbClr val="DFE5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382512" y="2532888"/>
            <a:ext cx="4663440" cy="173736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 i="0">
                <a:solidFill>
                  <a:srgbClr val="17866D"/>
                </a:solidFill>
                <a:latin typeface="Aptos"/>
              </a:rPr>
              <a:t>VALUE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382512" y="2816352"/>
            <a:ext cx="4663440" cy="658368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14213D"/>
                </a:solidFill>
                <a:latin typeface="Aptos"/>
              </a:rPr>
              <a:t>A transparent checklist from role requirements to practice priorities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85800" y="3913631"/>
            <a:ext cx="5084064" cy="1307592"/>
          </a:xfrm>
          <a:prstGeom prst="roundRect">
            <a:avLst>
              <a:gd name="adj" fmla="val 13000"/>
            </a:avLst>
          </a:prstGeom>
          <a:solidFill>
            <a:srgbClr val="EEF5FB"/>
          </a:solidFill>
          <a:ln w="12700">
            <a:solidFill>
              <a:srgbClr val="DFE5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96112" y="4114799"/>
            <a:ext cx="4663440" cy="173736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 i="0">
                <a:solidFill>
                  <a:srgbClr val="4578A8"/>
                </a:solidFill>
                <a:latin typeface="Aptos"/>
              </a:rPr>
              <a:t>CHANNELS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96112" y="4398264"/>
            <a:ext cx="4663440" cy="658368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14213D"/>
                </a:solidFill>
                <a:latin typeface="Aptos"/>
              </a:rPr>
              <a:t>Live demo, GitHub, campus demos and career clubs (proposed)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172200" y="3913631"/>
            <a:ext cx="5084064" cy="1307592"/>
          </a:xfrm>
          <a:prstGeom prst="roundRect">
            <a:avLst>
              <a:gd name="adj" fmla="val 13000"/>
            </a:avLst>
          </a:prstGeom>
          <a:solidFill>
            <a:srgbClr val="FFF0F2"/>
          </a:solidFill>
          <a:ln w="12700">
            <a:solidFill>
              <a:srgbClr val="DFE5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382512" y="4114799"/>
            <a:ext cx="4663440" cy="173736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 i="0">
                <a:solidFill>
                  <a:srgbClr val="C8566B"/>
                </a:solidFill>
                <a:latin typeface="Aptos"/>
              </a:rPr>
              <a:t>COSTS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382512" y="4398264"/>
            <a:ext cx="4663440" cy="658368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14213D"/>
                </a:solidFill>
                <a:latin typeface="Aptos"/>
              </a:rPr>
              <a:t>Developer time, hosting, catalogue review and user testing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85800" y="1673352"/>
            <a:ext cx="10570464" cy="438912"/>
          </a:xfrm>
          <a:prstGeom prst="roundRect">
            <a:avLst>
              <a:gd name="adj" fmla="val 13000"/>
            </a:avLst>
          </a:prstGeom>
          <a:solidFill>
            <a:srgbClr val="1421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14400" y="1746504"/>
            <a:ext cx="10104120" cy="256032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FFFFFF"/>
                </a:solidFill>
                <a:latin typeface="Aptos"/>
              </a:rPr>
              <a:t>Current prototype: free to try; no revenue or institutional demand has been validated.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7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347472"/>
            <a:ext cx="10789920" cy="201168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6558D9"/>
                </a:solidFill>
                <a:latin typeface="Aptos"/>
              </a:rPr>
              <a:t>11  /  EVALUATION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640080"/>
            <a:ext cx="10972800" cy="493776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500" b="1" i="0">
                <a:solidFill>
                  <a:srgbClr val="14213D"/>
                </a:solidFill>
                <a:latin typeface="Aptos"/>
              </a:rPr>
              <a:t>The next milestone is evidence, not more features.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12648" y="1170432"/>
            <a:ext cx="10789920" cy="384048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66738A"/>
                </a:solidFill>
                <a:latin typeface="Aptos"/>
              </a:rPr>
              <a:t>No user-pilot results are claimed here; these are proposed checks for the next iteration.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502920" y="6492240"/>
            <a:ext cx="11183112" cy="0"/>
          </a:xfrm>
          <a:prstGeom prst="line">
            <a:avLst/>
          </a:prstGeom>
          <a:ln w="8890">
            <a:solidFill>
              <a:srgbClr val="DFE5E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530352" y="6537960"/>
            <a:ext cx="4937760" cy="173736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 i="0">
                <a:solidFill>
                  <a:srgbClr val="66738A"/>
                </a:solidFill>
                <a:latin typeface="Aptos"/>
              </a:rPr>
              <a:t>SKILLMATCH AI  /  PROJECT PITCH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881360" y="6528816"/>
            <a:ext cx="777240" cy="182880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 i="0">
                <a:solidFill>
                  <a:srgbClr val="66738A"/>
                </a:solidFill>
                <a:latin typeface="Aptos"/>
              </a:rPr>
              <a:t>12 / 14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85800" y="1920240"/>
            <a:ext cx="3319272" cy="3154680"/>
          </a:xfrm>
          <a:prstGeom prst="roundRect">
            <a:avLst>
              <a:gd name="adj" fmla="val 13000"/>
            </a:avLst>
          </a:prstGeom>
          <a:solidFill>
            <a:srgbClr val="FFFFFF"/>
          </a:solidFill>
          <a:ln w="12700">
            <a:solidFill>
              <a:srgbClr val="DFE5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85800" y="1920240"/>
            <a:ext cx="3319272" cy="109728"/>
          </a:xfrm>
          <a:prstGeom prst="rect">
            <a:avLst/>
          </a:prstGeom>
          <a:solidFill>
            <a:srgbClr val="655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86968" y="2258568"/>
            <a:ext cx="2880360" cy="384048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 i="0">
                <a:solidFill>
                  <a:srgbClr val="14213D"/>
                </a:solidFill>
                <a:latin typeface="Aptos"/>
              </a:rPr>
              <a:t>Technical quality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86968" y="2798064"/>
            <a:ext cx="2880360" cy="210312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 i="0">
                <a:solidFill>
                  <a:srgbClr val="6558D9"/>
                </a:solidFill>
                <a:latin typeface="Aptos"/>
              </a:rPr>
              <a:t>METHOD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86968" y="3054096"/>
            <a:ext cx="2880360" cy="749808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66738A"/>
                </a:solidFill>
                <a:latin typeface="Aptos"/>
              </a:rPr>
              <a:t>Test empty inputs, profile variations and each role template.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886968" y="3904487"/>
            <a:ext cx="2871215" cy="0"/>
          </a:xfrm>
          <a:prstGeom prst="line">
            <a:avLst/>
          </a:prstGeom>
          <a:ln w="10160">
            <a:solidFill>
              <a:srgbClr val="DFE5E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TextBox 13"/>
          <p:cNvSpPr txBox="1"/>
          <p:nvPr/>
        </p:nvSpPr>
        <p:spPr>
          <a:xfrm>
            <a:off x="886968" y="4096512"/>
            <a:ext cx="2880360" cy="201168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 i="0">
                <a:solidFill>
                  <a:srgbClr val="6558D9"/>
                </a:solidFill>
                <a:latin typeface="Aptos"/>
              </a:rPr>
              <a:t>MEASURE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86968" y="4370832"/>
            <a:ext cx="2880360" cy="521207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18243A"/>
                </a:solidFill>
                <a:latin typeface="Aptos"/>
              </a:rPr>
              <a:t>Functional test pass rate; edge-case findings.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343400" y="1920240"/>
            <a:ext cx="3319272" cy="3154680"/>
          </a:xfrm>
          <a:prstGeom prst="roundRect">
            <a:avLst>
              <a:gd name="adj" fmla="val 13000"/>
            </a:avLst>
          </a:prstGeom>
          <a:solidFill>
            <a:srgbClr val="FFFFFF"/>
          </a:solidFill>
          <a:ln w="12700">
            <a:solidFill>
              <a:srgbClr val="DFE5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4343400" y="1920240"/>
            <a:ext cx="3319272" cy="109728"/>
          </a:xfrm>
          <a:prstGeom prst="rect">
            <a:avLst/>
          </a:prstGeom>
          <a:solidFill>
            <a:srgbClr val="17866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544568" y="2258568"/>
            <a:ext cx="2880360" cy="384048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 i="0">
                <a:solidFill>
                  <a:srgbClr val="14213D"/>
                </a:solidFill>
                <a:latin typeface="Aptos"/>
              </a:rPr>
              <a:t>Recognition quality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44568" y="2798064"/>
            <a:ext cx="2880360" cy="210312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 i="0">
                <a:solidFill>
                  <a:srgbClr val="17866D"/>
                </a:solidFill>
                <a:latin typeface="Aptos"/>
              </a:rPr>
              <a:t>METHOD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44568" y="3054096"/>
            <a:ext cx="2880360" cy="749808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66738A"/>
                </a:solidFill>
                <a:latin typeface="Aptos"/>
              </a:rPr>
              <a:t>Compare recognised skills against a manually labelled set of sample profiles.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4544568" y="3904487"/>
            <a:ext cx="2871215" cy="0"/>
          </a:xfrm>
          <a:prstGeom prst="line">
            <a:avLst/>
          </a:prstGeom>
          <a:ln w="10160">
            <a:solidFill>
              <a:srgbClr val="DFE5E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TextBox 21"/>
          <p:cNvSpPr txBox="1"/>
          <p:nvPr/>
        </p:nvSpPr>
        <p:spPr>
          <a:xfrm>
            <a:off x="4544568" y="4096512"/>
            <a:ext cx="2880360" cy="201168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 i="0">
                <a:solidFill>
                  <a:srgbClr val="17866D"/>
                </a:solidFill>
                <a:latin typeface="Aptos"/>
              </a:rPr>
              <a:t>MEASURE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544568" y="4370832"/>
            <a:ext cx="2880360" cy="521207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18243A"/>
                </a:solidFill>
                <a:latin typeface="Aptos"/>
              </a:rPr>
              <a:t>Precision, missed terms and synonym errors.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8001000" y="1920240"/>
            <a:ext cx="3319272" cy="3154680"/>
          </a:xfrm>
          <a:prstGeom prst="roundRect">
            <a:avLst>
              <a:gd name="adj" fmla="val 13000"/>
            </a:avLst>
          </a:prstGeom>
          <a:solidFill>
            <a:srgbClr val="FFFFFF"/>
          </a:solidFill>
          <a:ln w="12700">
            <a:solidFill>
              <a:srgbClr val="DFE5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8001000" y="1920240"/>
            <a:ext cx="3319272" cy="109728"/>
          </a:xfrm>
          <a:prstGeom prst="rect">
            <a:avLst/>
          </a:prstGeom>
          <a:solidFill>
            <a:srgbClr val="4578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202168" y="2258568"/>
            <a:ext cx="2880360" cy="384048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 i="0">
                <a:solidFill>
                  <a:srgbClr val="14213D"/>
                </a:solidFill>
                <a:latin typeface="Aptos"/>
              </a:rPr>
              <a:t>Learner usefulness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202168" y="2798064"/>
            <a:ext cx="2880360" cy="210312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 i="0">
                <a:solidFill>
                  <a:srgbClr val="4578A8"/>
                </a:solidFill>
                <a:latin typeface="Aptos"/>
              </a:rPr>
              <a:t>METHOD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202168" y="3054096"/>
            <a:ext cx="2880360" cy="749808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66738A"/>
                </a:solidFill>
                <a:latin typeface="Aptos"/>
              </a:rPr>
              <a:t>Ask users to complete one role-gap task and rate clarity.</a:t>
            </a:r>
          </a:p>
        </p:txBody>
      </p:sp>
      <p:cxnSp>
        <p:nvCxnSpPr>
          <p:cNvPr id="29" name="Connector 28"/>
          <p:cNvCxnSpPr/>
          <p:nvPr/>
        </p:nvCxnSpPr>
        <p:spPr>
          <a:xfrm>
            <a:off x="8202168" y="3904487"/>
            <a:ext cx="2871216" cy="0"/>
          </a:xfrm>
          <a:prstGeom prst="line">
            <a:avLst/>
          </a:prstGeom>
          <a:ln w="10160">
            <a:solidFill>
              <a:srgbClr val="DFE5E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" name="TextBox 29"/>
          <p:cNvSpPr txBox="1"/>
          <p:nvPr/>
        </p:nvSpPr>
        <p:spPr>
          <a:xfrm>
            <a:off x="8202168" y="4096512"/>
            <a:ext cx="2880360" cy="201168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 i="0">
                <a:solidFill>
                  <a:srgbClr val="4578A8"/>
                </a:solidFill>
                <a:latin typeface="Aptos"/>
              </a:rPr>
              <a:t>MEASURE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202168" y="4370832"/>
            <a:ext cx="2880360" cy="521207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18243A"/>
                </a:solidFill>
                <a:latin typeface="Aptos"/>
              </a:rPr>
              <a:t>Task completion, time and usefulness rating.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685800" y="5376672"/>
            <a:ext cx="10634472" cy="512064"/>
          </a:xfrm>
          <a:prstGeom prst="roundRect">
            <a:avLst>
              <a:gd name="adj" fmla="val 13000"/>
            </a:avLst>
          </a:prstGeom>
          <a:solidFill>
            <a:srgbClr val="E9F7F1"/>
          </a:solidFill>
          <a:ln w="12700">
            <a:solidFill>
              <a:srgbClr val="D4ED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914400" y="5504688"/>
            <a:ext cx="10168128" cy="228600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17866D"/>
                </a:solidFill>
                <a:latin typeface="Aptos"/>
              </a:rPr>
              <a:t>A small, documented pilot will show what to fix in the catalogue and interface.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347472"/>
            <a:ext cx="10789920" cy="201168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6558D9"/>
                </a:solidFill>
                <a:latin typeface="Aptos"/>
              </a:rPr>
              <a:t>12  /  RESPONSIBLE USE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640080"/>
            <a:ext cx="10972800" cy="493776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500" b="1" i="0">
                <a:solidFill>
                  <a:srgbClr val="14213D"/>
                </a:solidFill>
                <a:latin typeface="Aptos"/>
              </a:rPr>
              <a:t>Be clear about what the prototype cannot know.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12648" y="1170432"/>
            <a:ext cx="10789920" cy="384048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66738A"/>
                </a:solidFill>
                <a:latin typeface="Aptos"/>
              </a:rPr>
              <a:t>The current version supports self-reflection; human judgement and original job requirements remain essential.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502920" y="6492240"/>
            <a:ext cx="11183112" cy="0"/>
          </a:xfrm>
          <a:prstGeom prst="line">
            <a:avLst/>
          </a:prstGeom>
          <a:ln w="8890">
            <a:solidFill>
              <a:srgbClr val="DFE5E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530352" y="6537960"/>
            <a:ext cx="4937760" cy="173736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 i="0">
                <a:solidFill>
                  <a:srgbClr val="66738A"/>
                </a:solidFill>
                <a:latin typeface="Aptos"/>
              </a:rPr>
              <a:t>SKILLMATCH AI  /  PROJECT PITCH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881360" y="6528816"/>
            <a:ext cx="777240" cy="182880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 i="0">
                <a:solidFill>
                  <a:srgbClr val="66738A"/>
                </a:solidFill>
                <a:latin typeface="Aptos"/>
              </a:rPr>
              <a:t>13 / 14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58368" y="1828800"/>
            <a:ext cx="5166360" cy="3611880"/>
          </a:xfrm>
          <a:prstGeom prst="roundRect">
            <a:avLst>
              <a:gd name="adj" fmla="val 13000"/>
            </a:avLst>
          </a:prstGeom>
          <a:solidFill>
            <a:srgbClr val="FFF0F2"/>
          </a:solidFill>
          <a:ln w="12700">
            <a:solidFill>
              <a:srgbClr val="F2D9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32688" y="2112264"/>
            <a:ext cx="4526280" cy="22860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C8566B"/>
                </a:solidFill>
                <a:latin typeface="Aptos"/>
              </a:rPr>
              <a:t>CURRENT LIMITATIONS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914400" y="2592324"/>
            <a:ext cx="73152" cy="73152"/>
          </a:xfrm>
          <a:prstGeom prst="roundRect">
            <a:avLst>
              <a:gd name="adj" fmla="val 13000"/>
            </a:avLst>
          </a:prstGeom>
          <a:solidFill>
            <a:srgbClr val="C856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78992" y="2560320"/>
            <a:ext cx="4343400" cy="22860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18243A"/>
                </a:solidFill>
                <a:latin typeface="Aptos"/>
              </a:rPr>
              <a:t>Small catalogue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78992" y="2807208"/>
            <a:ext cx="4343400" cy="301752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30" b="0" i="0">
                <a:solidFill>
                  <a:srgbClr val="66738A"/>
                </a:solidFill>
                <a:latin typeface="Aptos"/>
              </a:rPr>
              <a:t>Not every skill, synonym or role requirement is represented.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914400" y="3195828"/>
            <a:ext cx="73152" cy="73152"/>
          </a:xfrm>
          <a:prstGeom prst="roundRect">
            <a:avLst>
              <a:gd name="adj" fmla="val 13000"/>
            </a:avLst>
          </a:prstGeom>
          <a:solidFill>
            <a:srgbClr val="C856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78992" y="3163824"/>
            <a:ext cx="4343400" cy="22860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18243A"/>
                </a:solidFill>
                <a:latin typeface="Aptos"/>
              </a:rPr>
              <a:t>Text-dependent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78992" y="3410712"/>
            <a:ext cx="4343400" cy="224942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30" b="0" i="0">
                <a:solidFill>
                  <a:srgbClr val="66738A"/>
                </a:solidFill>
                <a:latin typeface="Aptos"/>
              </a:rPr>
              <a:t>Different wording can change recognition and similarity.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14400" y="3722522"/>
            <a:ext cx="73152" cy="73152"/>
          </a:xfrm>
          <a:prstGeom prst="roundRect">
            <a:avLst>
              <a:gd name="adj" fmla="val 13000"/>
            </a:avLst>
          </a:prstGeom>
          <a:solidFill>
            <a:srgbClr val="C856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78992" y="3690518"/>
            <a:ext cx="4343400" cy="22860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18243A"/>
                </a:solidFill>
                <a:latin typeface="Aptos"/>
              </a:rPr>
              <a:t>No proficiency check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78992" y="3937406"/>
            <a:ext cx="4343400" cy="224942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30" b="0" i="0">
                <a:solidFill>
                  <a:srgbClr val="66738A"/>
                </a:solidFill>
                <a:latin typeface="Aptos"/>
              </a:rPr>
              <a:t>A listed term does not demonstrate hands-on ability.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914400" y="4249216"/>
            <a:ext cx="73152" cy="73152"/>
          </a:xfrm>
          <a:prstGeom prst="roundRect">
            <a:avLst>
              <a:gd name="adj" fmla="val 13000"/>
            </a:avLst>
          </a:prstGeom>
          <a:solidFill>
            <a:srgbClr val="C856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78992" y="4217212"/>
            <a:ext cx="4343400" cy="22860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18243A"/>
                </a:solidFill>
                <a:latin typeface="Aptos"/>
              </a:rPr>
              <a:t>No hiring prediction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78992" y="4464100"/>
            <a:ext cx="4343400" cy="301752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30" b="0" i="0">
                <a:solidFill>
                  <a:srgbClr val="66738A"/>
                </a:solidFill>
                <a:latin typeface="Aptos"/>
              </a:rPr>
              <a:t>Scores do not estimate employability or selection likelihood.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126480" y="1828800"/>
            <a:ext cx="5166360" cy="3611880"/>
          </a:xfrm>
          <a:prstGeom prst="roundRect">
            <a:avLst>
              <a:gd name="adj" fmla="val 13000"/>
            </a:avLst>
          </a:prstGeom>
          <a:solidFill>
            <a:srgbClr val="E9F7F1"/>
          </a:solidFill>
          <a:ln w="12700">
            <a:solidFill>
              <a:srgbClr val="D4ED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400800" y="2112264"/>
            <a:ext cx="4526280" cy="22860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17866D"/>
                </a:solidFill>
                <a:latin typeface="Aptos"/>
              </a:rPr>
              <a:t>NEXT ITERATION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382512" y="2592324"/>
            <a:ext cx="73152" cy="73152"/>
          </a:xfrm>
          <a:prstGeom prst="roundRect">
            <a:avLst>
              <a:gd name="adj" fmla="val 13000"/>
            </a:avLst>
          </a:prstGeom>
          <a:solidFill>
            <a:srgbClr val="17866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547104" y="2560320"/>
            <a:ext cx="4343400" cy="22860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18243A"/>
                </a:solidFill>
                <a:latin typeface="Aptos"/>
              </a:rPr>
              <a:t>Review aliases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547104" y="2807208"/>
            <a:ext cx="4343400" cy="224942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30" b="0" i="0">
                <a:solidFill>
                  <a:srgbClr val="66738A"/>
                </a:solidFill>
                <a:latin typeface="Aptos"/>
              </a:rPr>
              <a:t>Add synonyms and reviewed role-skill references.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6382512" y="3119018"/>
            <a:ext cx="73152" cy="73152"/>
          </a:xfrm>
          <a:prstGeom prst="roundRect">
            <a:avLst>
              <a:gd name="adj" fmla="val 13000"/>
            </a:avLst>
          </a:prstGeom>
          <a:solidFill>
            <a:srgbClr val="17866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547104" y="3087014"/>
            <a:ext cx="4343400" cy="22860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18243A"/>
                </a:solidFill>
                <a:latin typeface="Aptos"/>
              </a:rPr>
              <a:t>Test with learners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547104" y="3333902"/>
            <a:ext cx="4343400" cy="224942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30" b="0" i="0">
                <a:solidFill>
                  <a:srgbClr val="66738A"/>
                </a:solidFill>
                <a:latin typeface="Aptos"/>
              </a:rPr>
              <a:t>Collect usability feedback and document errors.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6382512" y="3645712"/>
            <a:ext cx="73152" cy="73152"/>
          </a:xfrm>
          <a:prstGeom prst="roundRect">
            <a:avLst>
              <a:gd name="adj" fmla="val 13000"/>
            </a:avLst>
          </a:prstGeom>
          <a:solidFill>
            <a:srgbClr val="17866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547104" y="3613708"/>
            <a:ext cx="4343400" cy="22860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18243A"/>
                </a:solidFill>
                <a:latin typeface="Aptos"/>
              </a:rPr>
              <a:t>Improve transparency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547104" y="3860596"/>
            <a:ext cx="4343400" cy="224942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30" b="0" i="0">
                <a:solidFill>
                  <a:srgbClr val="66738A"/>
                </a:solidFill>
                <a:latin typeface="Aptos"/>
              </a:rPr>
              <a:t>Explain catalogue coverage and metric boundaries.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6382512" y="4172407"/>
            <a:ext cx="73152" cy="73152"/>
          </a:xfrm>
          <a:prstGeom prst="roundRect">
            <a:avLst>
              <a:gd name="adj" fmla="val 13000"/>
            </a:avLst>
          </a:prstGeom>
          <a:solidFill>
            <a:srgbClr val="17866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547104" y="4140403"/>
            <a:ext cx="4343400" cy="22860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18243A"/>
                </a:solidFill>
                <a:latin typeface="Aptos"/>
              </a:rPr>
              <a:t>Extend cautiously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547104" y="4387291"/>
            <a:ext cx="4343400" cy="301752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30" b="0" i="0">
                <a:solidFill>
                  <a:srgbClr val="66738A"/>
                </a:solidFill>
                <a:latin typeface="Aptos"/>
              </a:rPr>
              <a:t>Assess accessibility and privacy before adding persistence or accounts.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4213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658368" y="594360"/>
            <a:ext cx="512064" cy="512064"/>
          </a:xfrm>
          <a:prstGeom prst="roundRect">
            <a:avLst>
              <a:gd name="adj" fmla="val 13000"/>
            </a:avLst>
          </a:prstGeom>
          <a:solidFill>
            <a:srgbClr val="655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603504"/>
            <a:ext cx="512064" cy="49377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 i="0">
                <a:solidFill>
                  <a:srgbClr val="FFFFFF"/>
                </a:solidFill>
                <a:latin typeface="Aptos"/>
              </a:rPr>
              <a:t>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307592" y="667512"/>
            <a:ext cx="5943600" cy="201168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C7D0E5"/>
                </a:solidFill>
                <a:latin typeface="Aptos"/>
              </a:rPr>
              <a:t>SKILLMATCH AI  /  LIVE PROTOTYPE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13232" y="1554480"/>
            <a:ext cx="6492240" cy="603504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100" b="1" i="0">
                <a:solidFill>
                  <a:srgbClr val="FFFFFF"/>
                </a:solidFill>
                <a:latin typeface="Aptos"/>
              </a:rPr>
              <a:t>From a profile to a plan.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2331720"/>
            <a:ext cx="5760720" cy="713232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i="0">
                <a:solidFill>
                  <a:srgbClr val="DCE3F2"/>
                </a:solidFill>
                <a:latin typeface="Aptos"/>
              </a:rPr>
              <a:t>Make the next learning step clearer - without pretending a text score can measure a person.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3438144"/>
            <a:ext cx="4160520" cy="566928"/>
          </a:xfrm>
          <a:prstGeom prst="roundRect">
            <a:avLst>
              <a:gd name="adj" fmla="val 13000"/>
            </a:avLst>
          </a:prstGeom>
          <a:solidFill>
            <a:srgbClr val="655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32688" y="3566160"/>
            <a:ext cx="3749039" cy="292608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FFFFFF"/>
                </a:solidFill>
                <a:latin typeface="Aptos"/>
              </a:rPr>
              <a:t>TRY THE LIVE APP  →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863840" y="1417320"/>
            <a:ext cx="2560320" cy="3291840"/>
          </a:xfrm>
          <a:prstGeom prst="roundRect">
            <a:avLst>
              <a:gd name="adj" fmla="val 13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" name="Picture 9" descr="skillmatch_q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193024" y="1719072"/>
            <a:ext cx="1920240" cy="192024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8065008" y="3840480"/>
            <a:ext cx="2176272" cy="292608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14213D"/>
                </a:solidFill>
                <a:latin typeface="Aptos"/>
              </a:rPr>
              <a:t>Scan to open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065008" y="4160520"/>
            <a:ext cx="2176272" cy="292608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 u="none">
                <a:solidFill>
                  <a:srgbClr val="6558D9"/>
                </a:solidFill>
                <a:latin typeface="Aptos"/>
                <a:hlinkClick r:id="rId3"/>
              </a:rPr>
              <a:t>skillmatch-ai-rs.streamlit.app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49808" y="5010912"/>
            <a:ext cx="6035040" cy="32004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ptos"/>
              </a:rPr>
              <a:t>Shiven Pratap Singh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49808" y="5330952"/>
            <a:ext cx="6035040" cy="27432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C6D0E5"/>
                </a:solidFill>
                <a:latin typeface="Aptos"/>
              </a:rPr>
              <a:t>Lovely Professional University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49808" y="5806440"/>
            <a:ext cx="6080760" cy="27432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C6D0E5"/>
                </a:solidFill>
                <a:latin typeface="Aptos"/>
              </a:rPr>
              <a:t>Thank you  ·  Questions and feedback welcome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502920" y="6492240"/>
            <a:ext cx="11183112" cy="0"/>
          </a:xfrm>
          <a:prstGeom prst="line">
            <a:avLst/>
          </a:prstGeom>
          <a:ln w="8890">
            <a:solidFill>
              <a:srgbClr val="34415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TextBox 16"/>
          <p:cNvSpPr txBox="1"/>
          <p:nvPr/>
        </p:nvSpPr>
        <p:spPr>
          <a:xfrm>
            <a:off x="530352" y="6537960"/>
            <a:ext cx="4937760" cy="173736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 i="0">
                <a:solidFill>
                  <a:srgbClr val="52607A"/>
                </a:solidFill>
                <a:latin typeface="Aptos"/>
              </a:rPr>
              <a:t>SKILLMATCH AI  /  PROJECT PITCH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881360" y="6528816"/>
            <a:ext cx="777240" cy="182880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 i="0">
                <a:solidFill>
                  <a:srgbClr val="52607A"/>
                </a:solidFill>
                <a:latin typeface="Aptos"/>
              </a:rPr>
              <a:t>14 / 14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SkillMatch AI - Project Pitch</dc:title>
  <dc:subject>IBM SkillsBuild Machine Learning &amp; Applied AI project submission</dc:subject>
  <dc:creator>Shiven Pratap Singh</dc:creator>
  <cp:keywords>SkillMatch AI, skill gap, TF-IDF, career readiness, SDG 4, SDG 8</cp:keywords>
  <dc:description>Project presentation. Product capabilities and limitations are described as currently implemented.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